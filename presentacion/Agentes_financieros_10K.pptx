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ae05e13bfa4d79" /><Relationship Type="http://schemas.openxmlformats.org/officeDocument/2006/relationships/extended-properties" Target="/docProps/app.xml" Id="R88b9267372394871" /><Relationship Type="http://schemas.openxmlformats.org/officeDocument/2006/relationships/officeDocument" Target="/ppt/presentation.xml" Id="Rf2b6b1eaee664aa5" /></Relationships>
</file>

<file path=ppt/presentation.xml><?xml version="1.0" encoding="utf-8"?>
<p:presentation xmlns:p="http://schemas.openxmlformats.org/presentationml/2006/main">
  <p:sldMasterIdLst>
    <p:sldMasterId xmlns:r="http://schemas.openxmlformats.org/officeDocument/2006/relationships" id="2147483648" r:id="R31d976917e224d2e"/>
  </p:sldMasterIdLst>
  <p:notesMasterIdLst>
    <p:notesMasterId xmlns:r="http://schemas.openxmlformats.org/officeDocument/2006/relationships" r:id="R50f1afbfac7d4778"/>
  </p:notesMasterIdLst>
  <p:sldIdLst>
    <p:sldId xmlns:r="http://schemas.openxmlformats.org/officeDocument/2006/relationships" id="256" r:id="R5e89ab5202f94544"/>
    <p:sldId xmlns:r="http://schemas.openxmlformats.org/officeDocument/2006/relationships" id="257" r:id="Rb25aa5ce76274249"/>
    <p:sldId xmlns:r="http://schemas.openxmlformats.org/officeDocument/2006/relationships" id="258" r:id="Re30160b71b014e26"/>
    <p:sldId xmlns:r="http://schemas.openxmlformats.org/officeDocument/2006/relationships" id="259" r:id="Rd6a1bb2e859f4a3b"/>
    <p:sldId xmlns:r="http://schemas.openxmlformats.org/officeDocument/2006/relationships" id="260" r:id="Rcc2286d772dd460d"/>
    <p:sldId xmlns:r="http://schemas.openxmlformats.org/officeDocument/2006/relationships" id="261" r:id="R47e245698eef416e"/>
    <p:sldId xmlns:r="http://schemas.openxmlformats.org/officeDocument/2006/relationships" id="262" r:id="Rd5dbbaa0d0724e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79a70f47694992" /><Relationship Type="http://schemas.openxmlformats.org/officeDocument/2006/relationships/slideMaster" Target="/ppt/slideMasters/slideMaster1.xml" Id="R31d976917e224d2e" /><Relationship Type="http://schemas.openxmlformats.org/officeDocument/2006/relationships/notesMaster" Target="/ppt/notesMasters/notesMaster1.xml" Id="R50f1afbfac7d4778" /><Relationship Type="http://schemas.openxmlformats.org/officeDocument/2006/relationships/presProps" Target="/ppt/presProps.xml" Id="R8bb0c57e15f4430c" /><Relationship Type="http://schemas.openxmlformats.org/officeDocument/2006/relationships/tableStyles" Target="/ppt/tableStyles.xml" Id="Rb6a2d2c0a4754c5d" /><Relationship Type="http://schemas.openxmlformats.org/officeDocument/2006/relationships/slide" Target="/ppt/slides/slide1.xml" Id="R5e89ab5202f94544" /><Relationship Type="http://schemas.openxmlformats.org/officeDocument/2006/relationships/slide" Target="/ppt/slides/slide2.xml" Id="Rb25aa5ce76274249" /><Relationship Type="http://schemas.openxmlformats.org/officeDocument/2006/relationships/slide" Target="/ppt/slides/slide3.xml" Id="Re30160b71b014e26" /><Relationship Type="http://schemas.openxmlformats.org/officeDocument/2006/relationships/slide" Target="/ppt/slides/slide4.xml" Id="Rd6a1bb2e859f4a3b" /><Relationship Type="http://schemas.openxmlformats.org/officeDocument/2006/relationships/slide" Target="/ppt/slides/slide5.xml" Id="Rcc2286d772dd460d" /><Relationship Type="http://schemas.openxmlformats.org/officeDocument/2006/relationships/slide" Target="/ppt/slides/slide6.xml" Id="R47e245698eef416e" /><Relationship Type="http://schemas.openxmlformats.org/officeDocument/2006/relationships/slide" Target="/ppt/slides/slide7.xml" Id="Rd5dbbaa0d0724e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688555f3134b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82a892b2b641bf" /><Relationship Type="http://schemas.openxmlformats.org/officeDocument/2006/relationships/notesMaster" Target="/ppt/notesMasters/notesMaster1.xml" Id="R9c4ae2f89a3446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f3cb3ffecb44fb" /><Relationship Type="http://schemas.openxmlformats.org/officeDocument/2006/relationships/notesMaster" Target="/ppt/notesMasters/notesMaster1.xml" Id="R0271e87761bf40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3297b8fc6347d3" /><Relationship Type="http://schemas.openxmlformats.org/officeDocument/2006/relationships/notesMaster" Target="/ppt/notesMasters/notesMaster1.xml" Id="R3f95e0f7aac444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bda6855e974306" /><Relationship Type="http://schemas.openxmlformats.org/officeDocument/2006/relationships/notesMaster" Target="/ppt/notesMasters/notesMaster1.xml" Id="R59a3912b65c541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5a0b74d91a4c90" /><Relationship Type="http://schemas.openxmlformats.org/officeDocument/2006/relationships/notesMaster" Target="/ppt/notesMasters/notesMaster1.xml" Id="R502cf275896e40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d690e8e5d4426e" /><Relationship Type="http://schemas.openxmlformats.org/officeDocument/2006/relationships/notesMaster" Target="/ppt/notesMasters/notesMaster1.xml" Id="Rb562a01d195949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77b8c00f804a3b" /><Relationship Type="http://schemas.openxmlformats.org/officeDocument/2006/relationships/notesMaster" Target="/ppt/notesMasters/notesMaster1.xml" Id="Ra5e8da1417aa40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HIGINIO · 0:00–0:20 (20 s)</a:t>
            </a:r>
          </a:p>
          <a:p xmlns:a="http://schemas.openxmlformats.org/drawingml/2006/main">
            <a:r>
              <a:t>Partimos del mismo corpus y de las cuatro herramientas que nos proporciona la práctica. Nuestro trabajo ha sido mejorar el comportamiento del agente y medirlo. Cada uno contará qué cambió, qué falló y qué versión eligió. Cerraremos comparando las tres configuraciones sobre las mismas preguntas.</a:t>
            </a:r>
          </a:p>
          <a:p xmlns:a="http://schemas.openxmlformats.org/drawingml/2006/main">
            <a:r>
              <a:t/>
            </a:r>
          </a:p>
          <a:p xmlns:a="http://schemas.openxmlformats.org/drawingml/2006/main">
            <a:r>
              <a:t>Fuentes del repositorio (mediciones guardadas, septiembre de 2026):</a:t>
            </a:r>
          </a:p>
          <a:p xmlns:a="http://schemas.openxmlformats.org/drawingml/2006/main">
            <a:r>
              <a:t>Practica_LLM_Agente_10K.docx</a:t>
            </a:r>
          </a:p>
          <a:p xmlns:a="http://schemas.openxmlformats.org/drawingml/2006/main">
            <a:r>
              <a:t>experimentos/README.md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HIGINIO · 0:20–2:00 (1 min 40 s)</a:t>
            </a:r>
          </a:p>
          <a:p xmlns:a="http://schemas.openxmlformats.org/drawingml/2006/main">
            <a:r>
              <a:t>El punto de partida resolvía 11 de las 20 preguntas. Las numéricas eran fuertes, pero faltaba evidencia en las comparativas. Probé filtros, mezcla de búsqueda léxica y densa, reescritura y controles de cifras y citas.</a:t>
            </a:r>
          </a:p>
          <a:p xmlns:a="http://schemas.openxmlformats.org/drawingml/2006/main">
            <a:r>
              <a:t>En v009 llegué a 17. Una prueba interesante fue exigir un esquema más rígido para las comparativas: en v010 el resultado cayó a 13. Más restricciones no siempre ayudaron. La versión final que mostramos es v018, con 20 de 20 y 12 de 12 casos adicionales de ausencia. Combina la búsqueda híbrida y los controles heredados con una parada temprana cuando ya tenemos un hecho XBRL válido.</a:t>
            </a:r>
          </a:p>
          <a:p xmlns:a="http://schemas.openxmlformats.org/drawingml/2006/main">
            <a:r>
              <a:t>También cambié Gemini por Gemma 4 26B A4B en v016: bajó mucho el coste, pero obtuve 13 de 20. No cambié los embeddings, BGE-small de 384 dimensiones. Por tanto, las mejoras principales de esta evolución corresponden a las decisiones del agente y del recuperador.</a:t>
            </a:r>
          </a:p>
          <a:p xmlns:a="http://schemas.openxmlformats.org/drawingml/2006/main">
            <a:r>
              <a:t>Desglose base: extractivas 5/6, numéricas 6/6, comparativas 0/8. v018: 6/6, 6/6, 8/8. Coste medio v016: 0,000672 USD. v018: 0,008352 USD.</a:t>
            </a:r>
          </a:p>
          <a:p xmlns:a="http://schemas.openxmlformats.org/drawingml/2006/main">
            <a:r>
              <a:t/>
            </a:r>
          </a:p>
          <a:p xmlns:a="http://schemas.openxmlformats.org/drawingml/2006/main">
            <a:r>
              <a:t>Fuentes del repositorio (mediciones guardadas, septiembre de 2026):</a:t>
            </a:r>
          </a:p>
          <a:p xmlns:a="http://schemas.openxmlformats.org/drawingml/2006/main">
            <a:r>
              <a:t>resultados/baseline.csv</a:t>
            </a:r>
          </a:p>
          <a:p xmlns:a="http://schemas.openxmlformats.org/drawingml/2006/main">
            <a:r>
              <a:t>resultados/agente_v009.csv</a:t>
            </a:r>
          </a:p>
          <a:p xmlns:a="http://schemas.openxmlformats.org/drawingml/2006/main">
            <a:r>
              <a:t>resultados/agente_v010.csv</a:t>
            </a:r>
          </a:p>
          <a:p xmlns:a="http://schemas.openxmlformats.org/drawingml/2006/main">
            <a:r>
              <a:t>resultados/agente_v016.csv</a:t>
            </a:r>
          </a:p>
          <a:p xmlns:a="http://schemas.openxmlformats.org/drawingml/2006/main">
            <a:r>
              <a:t>resultados/agente_v018.csv</a:t>
            </a:r>
          </a:p>
          <a:p xmlns:a="http://schemas.openxmlformats.org/drawingml/2006/main">
            <a:r>
              <a:t>resultados/agente_v018_extra.csv</a:t>
            </a:r>
          </a:p>
          <a:p xmlns:a="http://schemas.openxmlformats.org/drawingml/2006/main">
            <a:r>
              <a:t>experimentos/higinio/agente_v001.py a agente_v018.py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HUGO · 2:00–3:40 (1 min 40 s)</a:t>
            </a:r>
          </a:p>
          <a:p xmlns:a="http://schemas.openxmlformats.org/drawingml/2006/main">
            <a:r>
              <a:t>Probé Haiku 4.5 y Sonnet 5 manteniendo BGE-small. Con Haiku v001 obtuve 7 de 20. La curva muestra la evolución completa con Sonnet.</a:t>
            </a:r>
          </a:p>
          <a:p xmlns:a="http://schemas.openxmlformats.org/drawingml/2006/main">
            <a:r>
              <a:t>Sonnet empezaba en 6 de 20. Parte del problema era el contrato de salida: comillas añadidas a una cita, cifras en millones o devolver la variación en vez del último valor. Las reglas de formato de v002 subieron el resultado a 14. El protocolo de comparativas, con cifras de ambos años y evidencia en el informe, permitió llegar a 20 en v003.</a:t>
            </a:r>
          </a:p>
          <a:p xmlns:a="http://schemas.openxmlformats.org/drawingml/2006/main">
            <a:r>
              <a:t>Pero el 20 de 20 no activaba todos los riesgos. En ocho preguntas de estrés, v003 solo pasaba cinco. La herramienta común redondeaba el beneficio por acción a un entero. Mi middleware contrasta el dato con el XBRL original y pide corregirlo: Apple pasa de 7 a 7,46 dólares por acción. Con v005 pasan ocho de ocho. El reparador de citas también existe, pero no atribuyo a él una mejora que no se observó en estas campañas.</a:t>
            </a:r>
          </a:p>
          <a:p xmlns:a="http://schemas.openxmlformats.org/drawingml/2006/main">
            <a:r>
              <a:t>Desglose Sonnet v000: extractivas 0/6, numéricas 6/6, comparativas 0/8. v005: 6/6, 6/6, 8/8. El estudio aislado de recall@5 con BGE, en 14 anclas del equipo, dio 0% denso plano, 50% con filtros, 42,9% híbrido, 71,4% reescritura con filtros y 92,9% reescritura con híbrido. El agente final utiliza búsqueda densa filtrada.</a:t>
            </a:r>
          </a:p>
          <a:p xmlns:a="http://schemas.openxmlformats.org/drawingml/2006/main">
            <a:r>
              <a:t>Procedencia: cifras reportadas en el README de Hugo. Los resultados crudos de sus campañas no están versionados en este checkout.</a:t>
            </a:r>
          </a:p>
          <a:p xmlns:a="http://schemas.openxmlformats.org/drawingml/2006/main">
            <a:r>
              <a:t/>
            </a:r>
          </a:p>
          <a:p xmlns:a="http://schemas.openxmlformats.org/drawingml/2006/main">
            <a:r>
              <a:t>Fuentes del repositorio (mediciones guardadas, septiembre de 2026):</a:t>
            </a:r>
          </a:p>
          <a:p xmlns:a="http://schemas.openxmlformats.org/drawingml/2006/main">
            <a:r>
              <a:t>experimentos/hugo/README.md</a:t>
            </a:r>
          </a:p>
          <a:p xmlns:a="http://schemas.openxmlformats.org/drawingml/2006/main">
            <a:r>
              <a:t>experimentos/hugo/guardrails.py</a:t>
            </a:r>
          </a:p>
          <a:p xmlns:a="http://schemas.openxmlformats.org/drawingml/2006/main">
            <a:r>
              <a:t>experimentos/hugo/agente_v005.py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JAVIER · 3:40–5:15 (1 min 35 s)</a:t>
            </a:r>
          </a:p>
          <a:p xmlns:a="http://schemas.openxmlformats.org/drawingml/2006/main">
            <a:r>
              <a:t>Mantuve DeepSeek V4 Flash, Voyage 4 Lite y Qdrant durante las tres versiones. En la primera, el agente tenía validaciones propias y hasta 18 llamadas. Acertó 37 de 40 preguntas. Los tres fallos fueron salidas sin respuesta estructurada.</a:t>
            </a:r>
          </a:p>
          <a:p xmlns:a="http://schemas.openxmlformats.org/drawingml/2006/main">
            <a:r>
              <a:t>En v2 simplifiqué el prompt, eliminé los hooks propios y reduje el límite a seis llamadas. Pasó las 40 preguntas. Sin embargo, en la evaluación adicional de ausencias solo acertaba cinco de doce.</a:t>
            </a:r>
          </a:p>
          <a:p xmlns:a="http://schemas.openxmlformats.org/drawingml/2006/main">
            <a:r>
              <a:t>Higinio propuso la regla de abstención de v3. El ajuste final distinguió dos peticiones: si se piden ingresos de manera genérica, hay que comprobar las dos etiquetas posibles; si se pide un identificador XBRL literal, hay que respetarlo. Eso corrige las abstenciones prematuras sin inventar una cifra cuando falta el concepto exacto. La campaña ajustada da 52 de 52, con 28 citas completas verificadas.</a:t>
            </a:r>
          </a:p>
          <a:p xmlns:a="http://schemas.openxmlformats.org/drawingml/2006/main">
            <a:r>
              <a:t>Los denominadores son distintos: 37/40 y 40/40 corresponden a equipo y oficial; 52/52 incluye doce casos adicionales. Todos son conjuntos conocidos de desarrollo. La v3 actual no incorpora middleware XBRL propio, su abstención depende del prompt. Los controles propios exigidos por la práctica existen en otras variantes del grupo.</a:t>
            </a:r>
          </a:p>
          <a:p xmlns:a="http://schemas.openxmlformats.org/drawingml/2006/main">
            <a:r>
              <a:t>Ejemplo para explicar si hay tiempo: ingresos genéricos consulta Revenues y RevenueFromContractWithCustomerExcludingAssessedTax. Si se pide literalmente Revenues y falta, responde sin cifra.</a:t>
            </a:r>
          </a:p>
          <a:p xmlns:a="http://schemas.openxmlformats.org/drawingml/2006/main">
            <a:r>
              <a:t/>
            </a:r>
          </a:p>
          <a:p xmlns:a="http://schemas.openxmlformats.org/drawingml/2006/main">
            <a:r>
              <a:t>Fuentes del repositorio (mediciones guardadas, septiembre de 2026):</a:t>
            </a:r>
          </a:p>
          <a:p xmlns:a="http://schemas.openxmlformats.org/drawingml/2006/main">
            <a:r>
              <a:t>experimentos/jchulvi/evaluacion_agente.ipynb</a:t>
            </a:r>
          </a:p>
          <a:p xmlns:a="http://schemas.openxmlformats.org/drawingml/2006/main">
            <a:r>
              <a:t>experimentos/jchulvi/validacion_agente_v2.ipynb</a:t>
            </a:r>
          </a:p>
          <a:p xmlns:a="http://schemas.openxmlformats.org/drawingml/2006/main">
            <a:r>
              <a:t>experimentos/jchulvi/validacion_agente_v3.ipynb</a:t>
            </a:r>
          </a:p>
          <a:p xmlns:a="http://schemas.openxmlformats.org/drawingml/2006/main">
            <a:r>
              <a:t>resultados/evaluacion_jchulvi_v2_extra.csv</a:t>
            </a:r>
          </a:p>
          <a:p xmlns:a="http://schemas.openxmlformats.org/drawingml/2006/main">
            <a:r>
              <a:t>experimentos/jchulvi/agente_v3.py</a:t>
            </a:r>
          </a:p>
          <a:p xmlns:a="http://schemas.openxmlformats.org/drawingml/2006/main">
            <a:r>
              <a:t>experimentos/jchulvi/README.md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JAVIER · 5:15–6:00 (45 s)</a:t>
            </a:r>
          </a:p>
          <a:p xmlns:a="http://schemas.openxmlformats.org/drawingml/2006/main">
            <a:r>
              <a:t>Qdrant guarda localmente los 1.749 vectores del corpus, calculados con Voyage 4 Lite. Para cada búsqueda generamos el vector de la consulta en la nube. Qdrant aplica filtros de empresa, año y sección, y localiza los fragmentos. Después ampliamos el contexto a la sección completa para que el agente pueda responder con evidencia.</a:t>
            </a:r>
          </a:p>
          <a:p xmlns:a="http://schemas.openxmlformats.org/drawingml/2006/main">
            <a:r>
              <a:t>La caché evita recalcular los embeddings del corpus. Las consultas siguen teniendo coste de embeddings. Qdrant es la base de datos vectorial local y los modelos se ejecutan en proveedores cloud. No hemos aislado un experimento que atribuya la mejora de acierto exclusivamente a Qdrant.</a:t>
            </a:r>
          </a:p>
          <a:p xmlns:a="http://schemas.openxmlformats.org/drawingml/2006/main">
            <a:r>
              <a:t>Estudio de recuperación v1: 27 preguntas con ancla textual. BM25 29,6%, denso con metadatos 74,1%, híbrido 63,0%. Reescritura con denso 81,5%, con una llamada extra. La configuración elegida para el agente fue densa con metadatos.</a:t>
            </a:r>
          </a:p>
          <a:p xmlns:a="http://schemas.openxmlformats.org/drawingml/2006/main">
            <a:r>
              <a:t/>
            </a:r>
          </a:p>
          <a:p xmlns:a="http://schemas.openxmlformats.org/drawingml/2006/main">
            <a:r>
              <a:t>Fuentes del repositorio (mediciones guardadas, septiembre de 2026):</a:t>
            </a:r>
          </a:p>
          <a:p xmlns:a="http://schemas.openxmlformats.org/drawingml/2006/main">
            <a:r>
              <a:t>experimentos/jchulvi/qdrant_local.py</a:t>
            </a:r>
          </a:p>
          <a:p xmlns:a="http://schemas.openxmlformats.org/drawingml/2006/main">
            <a:r>
              <a:t>experimentos/jchulvi/agente.py</a:t>
            </a:r>
          </a:p>
          <a:p xmlns:a="http://schemas.openxmlformats.org/drawingml/2006/main">
            <a:r>
              <a:t>experimentos/jchulvi/evaluacion_agente.ipynb</a:t>
            </a:r>
          </a:p>
          <a:p xmlns:a="http://schemas.openxmlformats.org/drawingml/2006/main">
            <a:r>
              <a:t>experimentos/jchulvi/README.md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HUGO · 6:00–6:20 (20 s)</a:t>
            </a:r>
          </a:p>
          <a:p xmlns:a="http://schemas.openxmlformats.org/drawingml/2006/main">
            <a:r>
              <a:t>Hasta aquí hemos mostrado conjuntos conocidos. El 20 de 20 no demuestra que resolvamos cualquier pregunta y la literalidad de una cita no demuestra por sí sola que respalde toda la respuesta.</a:t>
            </a:r>
          </a:p>
          <a:p xmlns:a="http://schemas.openxmlformats.org/drawingml/2006/main">
            <a:r>
              <a:t>JAVIER · 6:20–6:40 (20 s)</a:t>
            </a:r>
          </a:p>
          <a:p xmlns:a="http://schemas.openxmlformats.org/drawingml/2006/main">
            <a:r>
              <a:t>La práctica incorpora diez preguntas nuevas. Con ellas registraremos aciertos, abstenciones, coste y latencia del código entregado, y compararemos el resultado con desarrollo. A fecha de preparación todavía no tenemos esas preguntas.</a:t>
            </a:r>
          </a:p>
          <a:p xmlns:a="http://schemas.openxmlformats.org/drawingml/2006/main">
            <a:r>
              <a:t/>
            </a:r>
          </a:p>
          <a:p xmlns:a="http://schemas.openxmlformats.org/drawingml/2006/main">
            <a:r>
              <a:t>Fuentes del repositorio (mediciones guardadas, septiembre de 2026):</a:t>
            </a:r>
          </a:p>
          <a:p xmlns:a="http://schemas.openxmlformats.org/drawingml/2006/main">
            <a:r>
              <a:t>Practica_LLM_Agente_10K.docx</a:t>
            </a:r>
          </a:p>
          <a:p xmlns:a="http://schemas.openxmlformats.org/drawingml/2006/main">
            <a:r>
              <a:t>src/taller_nlp/citas.py</a:t>
            </a:r>
          </a:p>
          <a:p xmlns:a="http://schemas.openxmlformats.org/drawingml/2006/main">
            <a:r>
              <a:t>experimentos/jchulvi/README.md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comparación usa las mismas veinte preguntas del equipo y las métricas medias guardadas por la interfaz entregable.</a:t>
            </a:r>
          </a:p>
          <a:p xmlns:a="http://schemas.openxmlformats.org/drawingml/2006/main">
            <a:r>
              <a:t>Jchulvi v3 obtiene 20/20 frente a 11/20 del baseline. Mejora especialmente la familia comparativa, con 8/8 frente a 0/8.</a:t>
            </a:r>
          </a:p>
          <a:p xmlns:a="http://schemas.openxmlformats.org/drawingml/2006/main">
            <a:r>
              <a:t>El coste medio por pregunta baja de 0,7592 a 0,1234 centavos y las llamadas medias pasan de 3,10 a 2,80; la latencia sube de 14,87 a 16,34 segundos.</a:t>
            </a:r>
          </a:p>
          <a:p xmlns:a="http://schemas.openxmlformats.org/drawingml/2006/main">
            <a:r>
              <a:t/>
            </a:r>
          </a:p>
          <a:p xmlns:a="http://schemas.openxmlformats.org/drawingml/2006/main">
            <a:r>
              <a:t>[Sources]</a:t>
            </a:r>
          </a:p>
          <a:p xmlns:a="http://schemas.openxmlformats.org/drawingml/2006/main">
            <a:r>
              <a:t>README.md — sección Comparación de resultados resumidos</a:t>
            </a:r>
          </a:p>
          <a:p xmlns:a="http://schemas.openxmlformats.org/drawingml/2006/main">
            <a:r>
              <a:t>resultados/resumen_baseline.csv</a:t>
            </a:r>
          </a:p>
          <a:p xmlns:a="http://schemas.openxmlformats.org/drawingml/2006/main">
            <a:r>
              <a:t>resultados/resumen_jchulvi_v3.csv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b64d9e127b41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11a23298624fa7" /><Relationship Type="http://schemas.openxmlformats.org/officeDocument/2006/relationships/slideLayout" Target="/ppt/slideLayouts/slideLayout1.xml" Id="R7ca2a1d3e4e54b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a2a1d3e4e54b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f5ab0586114ece" /><Relationship Type="http://schemas.openxmlformats.org/officeDocument/2006/relationships/notesSlide" Target="/ppt/notesSlides/notesSlide1.xml" Id="R6dcbdb58cafb44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36ff62283743bc" /><Relationship Type="http://schemas.openxmlformats.org/officeDocument/2006/relationships/chart" Target="/ppt/slides/charts/chart1.xml" Id="Rfc4918cc6c7c4261" /><Relationship Type="http://schemas.openxmlformats.org/officeDocument/2006/relationships/notesSlide" Target="/ppt/notesSlides/notesSlide2.xml" Id="R3085da5f625343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0a51cb6c7f473f" /><Relationship Type="http://schemas.openxmlformats.org/officeDocument/2006/relationships/chart" Target="/ppt/slides/charts/chart2.xml" Id="R1828361ef31242cf" /><Relationship Type="http://schemas.openxmlformats.org/officeDocument/2006/relationships/notesSlide" Target="/ppt/notesSlides/notesSlide3.xml" Id="Rbace86d14b0b48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ed075dcbc84476" /><Relationship Type="http://schemas.openxmlformats.org/officeDocument/2006/relationships/notesSlide" Target="/ppt/notesSlides/notesSlide4.xml" Id="Rc6af8871fe7549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8dc057e471474e" /><Relationship Type="http://schemas.openxmlformats.org/officeDocument/2006/relationships/notesSlide" Target="/ppt/notesSlides/notesSlide5.xml" Id="R52d5b197355f4c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68cbe9609e4a45" /><Relationship Type="http://schemas.openxmlformats.org/officeDocument/2006/relationships/notesSlide" Target="/ppt/notesSlides/notesSlide6.xml" Id="R7cd469c3697841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a70229f17c4ba8" /><Relationship Type="http://schemas.openxmlformats.org/officeDocument/2006/relationships/notesSlide" Target="/ppt/notesSlides/notesSlide7.xml" Id="R32900385cb124fa0" /></Relationships>
</file>

<file path=ppt/slides/charts/chart1.xml><?xml version="1.0" encoding="utf-8"?>
<c:chartSpace xmlns:c="http://schemas.openxmlformats.org/drawingml/2006/chart">
  <c:lang val="en-US"/>
  <c:chart>
    <c:plotArea>
      <c:barChart>
        <c:barDir val="col"/>
        <c:grouping val="clustered"/>
        <c:varyColors val="0"/>
        <c:ser>
          <c:idx val="0"/>
          <c:order val="0"/>
          <c:tx>
            <c:v>Aciertos sobre 20 preguntas del equipo</c:v>
          </c:tx>
          <c:spPr>
            <a:solidFill xmlns:a="http://schemas.openxmlformats.org/drawingml/2006/main">
              <a:srgbClr val="779ABA"/>
            </a:solidFill>
          </c:spPr>
          <c:dPt>
            <c:idx val="0"/>
            <c:invertIfNegative val="0"/>
            <c:spPr>
              <a:solidFill xmlns:a="http://schemas.openxmlformats.org/drawingml/2006/main">
                <a:srgbClr val="779ABA"/>
              </a:solidFill>
            </c:spPr>
          </c:dPt>
          <c:dPt>
            <c:idx val="1"/>
            <c:invertIfNegative val="0"/>
            <c:spPr>
              <a:solidFill xmlns:a="http://schemas.openxmlformats.org/drawingml/2006/main">
                <a:srgbClr val="779ABA"/>
              </a:solidFill>
            </c:spPr>
          </c:dPt>
          <c:dPt>
            <c:idx val="2"/>
            <c:invertIfNegative val="0"/>
            <c:spPr>
              <a:solidFill xmlns:a="http://schemas.openxmlformats.org/drawingml/2006/main">
                <a:srgbClr val="D2958D"/>
              </a:solidFill>
            </c:spPr>
          </c:dPt>
          <c:dPt>
            <c:idx val="3"/>
            <c:invertIfNegative val="0"/>
            <c:spPr>
              <a:solidFill xmlns:a="http://schemas.openxmlformats.org/drawingml/2006/main">
                <a:srgbClr val="D4B57B"/>
              </a:solidFill>
            </c:spPr>
          </c:dPt>
          <c:cat>
            <c:strRef>
              <c:f>'Chart Data'!$A$2:$A$5</c:f>
              <c:strCache>
                <c:ptCount val="4"/>
                <c:pt idx="0">
                  <c:v>Base</c:v>
                </c:pt>
                <c:pt idx="1">
                  <c:v>v009</c:v>
                </c:pt>
                <c:pt idx="2">
                  <c:v>v010</c:v>
                </c:pt>
                <c:pt idx="3">
                  <c:v>v018</c:v>
                </c:pt>
              </c:strCache>
            </c:strRef>
          </c:cat>
          <c:val>
            <c:numRef>
              <c:f>'Chart Data'!$B$2:$B$5</c:f>
              <c:numCache>
                <c:formatCode>0</c:formatCode>
                <c:ptCount val="4"/>
                <c:pt idx="0">
                  <c:v>11</c:v>
                </c:pt>
                <c:pt idx="1">
                  <c:v>17</c:v>
                </c:pt>
                <c:pt idx="2">
                  <c:v>13</c:v>
                </c:pt>
                <c:pt idx="3">
                  <c:v>20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1F3F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0445C"/>
            </a:solidFill>
          </a:ln>
        </c:spPr>
        <c:txPr>
          <a:bodyPr xmlns:a="http://schemas.openxmlformats.org/drawingml/2006/main" anchorCtr="1"/>
          <a:lstStyle xmlns:a="http://schemas.openxmlformats.org/drawingml/2006/main"/>
          <a:p xmlns:a="http://schemas.openxmlformats.org/drawingml/2006/main">
            <a:pPr>
              <a:defRPr sz="1575">
                <a:solidFill>
                  <a:srgbClr val="B7C4D2"/>
                </a:solidFill>
                <a:latin typeface="Helvetica Neue"/>
                <a:ea typeface="Helvetica Neue"/>
                <a:cs typeface="Helvetica Neue"/>
              </a:defRPr>
            </a:pPr>
          </a:p>
        </c:txPr>
        <c:crossAx val="48672768"/>
        <c:lblAlgn val="ctr"/>
        <c:lblOffset val="100"/>
        <c:noMultiLvlLbl val="0"/>
      </c:catAx>
      <c:valAx>
        <c:axId val="48672768"/>
        <c:scaling>
          <c:orientation val="minMax"/>
          <c:max val="20"/>
          <c:min val="0"/>
        </c:scaling>
        <c:delete val="0"/>
        <c:axPos val="l"/>
        <c:majorGridlines>
          <c:spPr>
            <a:ln xmlns:a="http://schemas.openxmlformats.org/drawingml/2006/main" w="9525">
              <a:solidFill>
                <a:srgbClr val="30445C"/>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B7C4D2"/>
                </a:solidFill>
                <a:latin typeface="Helvetica Neue"/>
                <a:ea typeface="Helvetica Neue"/>
                <a:cs typeface="Helvetica Neue"/>
              </a:defRPr>
            </a:pPr>
          </a:p>
        </c:txPr>
        <c:crossAx val="48650112"/>
        <c:crossBetween val="between"/>
        <c:majorUnit val="5"/>
      </c:valAx>
      <c:spPr>
        <a:solidFill xmlns:a="http://schemas.openxmlformats.org/drawingml/2006/main">
          <a:srgbClr val="0B1C32"/>
        </a:solidFill>
        <a:ln xmlns:a="http://schemas.openxmlformats.org/drawingml/2006/main" w="0">
          <a:noFill/>
        </a:ln>
      </c:spPr>
    </c:plotArea>
    <c:plotVisOnly val="1"/>
  </c:chart>
  <c:spPr>
    <a:solidFill xmlns:a="http://schemas.openxmlformats.org/drawingml/2006/main">
      <a:srgbClr val="0B1C32"/>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Aciertos sobre 20 preguntas del equipo</c:v>
          </c:tx>
          <c:spPr>
            <a:solidFill xmlns:a="http://schemas.openxmlformats.org/drawingml/2006/main">
              <a:srgbClr val="779ABA"/>
            </a:solidFill>
          </c:spPr>
          <c:dPt>
            <c:idx val="0"/>
            <c:invertIfNegative val="0"/>
            <c:spPr>
              <a:solidFill xmlns:a="http://schemas.openxmlformats.org/drawingml/2006/main">
                <a:srgbClr val="779ABA"/>
              </a:solidFill>
            </c:spPr>
          </c:dPt>
          <c:dPt>
            <c:idx val="1"/>
            <c:invertIfNegative val="0"/>
            <c:spPr>
              <a:solidFill xmlns:a="http://schemas.openxmlformats.org/drawingml/2006/main">
                <a:srgbClr val="779ABA"/>
              </a:solidFill>
            </c:spPr>
          </c:dPt>
          <c:dPt>
            <c:idx val="2"/>
            <c:invertIfNegative val="0"/>
            <c:spPr>
              <a:solidFill xmlns:a="http://schemas.openxmlformats.org/drawingml/2006/main">
                <a:srgbClr val="779ABA"/>
              </a:solidFill>
            </c:spPr>
          </c:dPt>
          <c:dPt>
            <c:idx val="3"/>
            <c:invertIfNegative val="0"/>
            <c:spPr>
              <a:solidFill xmlns:a="http://schemas.openxmlformats.org/drawingml/2006/main">
                <a:srgbClr val="D4B57B"/>
              </a:solidFill>
            </c:spPr>
          </c:dPt>
          <c:cat>
            <c:strRef>
              <c:f>'Chart Data'!$A$2:$A$5</c:f>
              <c:strCache>
                <c:ptCount val="4"/>
                <c:pt idx="0">
                  <c:v>v000</c:v>
                </c:pt>
                <c:pt idx="1">
                  <c:v>v002</c:v>
                </c:pt>
                <c:pt idx="2">
                  <c:v>v003</c:v>
                </c:pt>
                <c:pt idx="3">
                  <c:v>v005</c:v>
                </c:pt>
              </c:strCache>
            </c:strRef>
          </c:cat>
          <c:val>
            <c:numRef>
              <c:f>'Chart Data'!$B$2:$B$5</c:f>
              <c:numCache>
                <c:formatCode>0</c:formatCode>
                <c:ptCount val="4"/>
                <c:pt idx="0">
                  <c:v>6</c:v>
                </c:pt>
                <c:pt idx="1">
                  <c:v>14</c:v>
                </c:pt>
                <c:pt idx="2">
                  <c:v>20</c:v>
                </c:pt>
                <c:pt idx="3">
                  <c:v>20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1F3F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0445C"/>
            </a:solidFill>
          </a:ln>
        </c:spPr>
        <c:txPr>
          <a:bodyPr xmlns:a="http://schemas.openxmlformats.org/drawingml/2006/main" anchorCtr="1"/>
          <a:lstStyle xmlns:a="http://schemas.openxmlformats.org/drawingml/2006/main"/>
          <a:p xmlns:a="http://schemas.openxmlformats.org/drawingml/2006/main">
            <a:pPr>
              <a:defRPr sz="1575">
                <a:solidFill>
                  <a:srgbClr val="B7C4D2"/>
                </a:solidFill>
                <a:latin typeface="Helvetica Neue"/>
                <a:ea typeface="Helvetica Neue"/>
                <a:cs typeface="Helvetica Neue"/>
              </a:defRPr>
            </a:pPr>
          </a:p>
        </c:txPr>
        <c:crossAx val="48672768"/>
        <c:lblAlgn val="ctr"/>
        <c:lblOffset val="100"/>
        <c:noMultiLvlLbl val="0"/>
      </c:catAx>
      <c:valAx>
        <c:axId val="48672768"/>
        <c:scaling>
          <c:orientation val="minMax"/>
          <c:max val="20"/>
          <c:min val="0"/>
        </c:scaling>
        <c:delete val="0"/>
        <c:axPos val="l"/>
        <c:majorGridlines>
          <c:spPr>
            <a:ln xmlns:a="http://schemas.openxmlformats.org/drawingml/2006/main" w="9525">
              <a:solidFill>
                <a:srgbClr val="30445C"/>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B7C4D2"/>
                </a:solidFill>
                <a:latin typeface="Helvetica Neue"/>
                <a:ea typeface="Helvetica Neue"/>
                <a:cs typeface="Helvetica Neue"/>
              </a:defRPr>
            </a:pPr>
          </a:p>
        </c:txPr>
        <c:crossAx val="48650112"/>
        <c:crossBetween val="between"/>
        <c:majorUnit val="5"/>
      </c:valAx>
      <c:spPr>
        <a:solidFill xmlns:a="http://schemas.openxmlformats.org/drawingml/2006/main">
          <a:srgbClr val="0B1C32"/>
        </a:solidFill>
        <a:ln xmlns:a="http://schemas.openxmlformats.org/drawingml/2006/main" w="0">
          <a:noFill/>
        </a:ln>
      </c:spPr>
    </c:plotArea>
    <c:plotVisOnly val="1"/>
  </c:chart>
  <c:spPr>
    <a:solidFill xmlns:a="http://schemas.openxmlformats.org/drawingml/2006/main">
      <a:srgbClr val="0B1C32"/>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B1C3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7AD0E7-A4A5-4D92-B8BB-A4D29463E0DE}"/>
              </a:ext>
            </a:extLst>
          </p:cNvPr>
          <p:cNvSpPr>
            <a:spLocks xmlns:a="http://schemas.openxmlformats.org/drawingml/2006/main" noGrp="1"/>
          </p:cNvSpPr>
          <p:nvPr/>
        </p:nvSpPr>
        <p:spPr>
          <a:xfrm xmlns:a="http://schemas.openxmlformats.org/drawingml/2006/main">
            <a:off x="666750" y="695325"/>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D4B57B"/>
                </a:solidFill>
                <a:latin typeface="Helvetica Neue"/>
                <a:ea typeface="Helvetica Neue"/>
                <a:cs typeface="Helvetica Neue"/>
              </a:defRPr>
            </a:pPr>
            <a:r>
              <a:rPr sz="1575" b="1">
                <a:solidFill>
                  <a:srgbClr val="D4B57B"/>
                </a:solidFill>
                <a:latin typeface="Helvetica Neue"/>
                <a:ea typeface="Helvetica Neue"/>
                <a:cs typeface="Helvetica Neue"/>
              </a:rPr>
              <a:t>TALLER NLP</a:t>
            </a:r>
          </a:p>
        </p:txBody>
      </p:sp>
      <p:sp>
        <p:nvSpPr>
          <p:cNvPr id="2" name="">
            <a:extLst xmlns:a="http://schemas.openxmlformats.org/drawingml/2006/main">
              <a:ext uri="{FF2B5EF4-FFF2-40B4-BE49-F238E27FC236}">
                <a16:creationId xmlns:a16="http://schemas.microsoft.com/office/drawing/2014/main" id="{D0F5491A-CEE8-4260-A0F7-6BF58E502815}"/>
              </a:ext>
            </a:extLst>
          </p:cNvPr>
          <p:cNvSpPr>
            <a:spLocks xmlns:a="http://schemas.openxmlformats.org/drawingml/2006/main" noGrp="1"/>
          </p:cNvSpPr>
          <p:nvPr/>
        </p:nvSpPr>
        <p:spPr>
          <a:xfrm xmlns:a="http://schemas.openxmlformats.org/drawingml/2006/main">
            <a:off x="666750" y="1866900"/>
            <a:ext cx="10668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F1F3F5"/>
                </a:solidFill>
                <a:latin typeface="Helvetica Neue"/>
                <a:ea typeface="Helvetica Neue"/>
                <a:cs typeface="Helvetica Neue"/>
              </a:defRPr>
            </a:pPr>
            <a:r>
              <a:rPr sz="5100" b="1">
                <a:solidFill>
                  <a:srgbClr val="F1F3F5"/>
                </a:solidFill>
                <a:latin typeface="Helvetica Neue"/>
                <a:ea typeface="Helvetica Neue"/>
                <a:cs typeface="Helvetica Neue"/>
              </a:rPr>
              <a:t>Agentes financieros</a:t>
            </a:r>
          </a:p>
          <a:p xmlns:a="http://schemas.openxmlformats.org/drawingml/2006/main">
            <a:pPr>
              <a:buNone/>
              <a:defRPr sz="5100" b="1">
                <a:solidFill>
                  <a:srgbClr val="F1F3F5"/>
                </a:solidFill>
                <a:latin typeface="Helvetica Neue"/>
                <a:ea typeface="Helvetica Neue"/>
                <a:cs typeface="Helvetica Neue"/>
              </a:defRPr>
            </a:pPr>
            <a:r>
              <a:rPr sz="5100" b="1">
                <a:solidFill>
                  <a:srgbClr val="F1F3F5"/>
                </a:solidFill>
                <a:latin typeface="Helvetica Neue"/>
                <a:ea typeface="Helvetica Neue"/>
                <a:cs typeface="Helvetica Neue"/>
              </a:rPr>
              <a:t>sobre informes 10-K</a:t>
            </a:r>
          </a:p>
        </p:txBody>
      </p:sp>
      <p:sp>
        <p:nvSpPr>
          <p:cNvPr id="3" name="">
            <a:extLst xmlns:a="http://schemas.openxmlformats.org/drawingml/2006/main">
              <a:ext uri="{FF2B5EF4-FFF2-40B4-BE49-F238E27FC236}">
                <a16:creationId xmlns:a16="http://schemas.microsoft.com/office/drawing/2014/main" id="{878699FF-39B0-4CE5-9145-30250FA7D7F3}"/>
              </a:ext>
            </a:extLst>
          </p:cNvPr>
          <p:cNvSpPr>
            <a:spLocks xmlns:a="http://schemas.openxmlformats.org/drawingml/2006/main" noGrp="1"/>
          </p:cNvSpPr>
          <p:nvPr/>
        </p:nvSpPr>
        <p:spPr>
          <a:xfrm xmlns:a="http://schemas.openxmlformats.org/drawingml/2006/main">
            <a:off x="695325" y="37814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7C4D2"/>
                </a:solidFill>
                <a:latin typeface="Helvetica Neue"/>
                <a:ea typeface="Helvetica Neue"/>
                <a:cs typeface="Helvetica Neue"/>
              </a:defRPr>
            </a:pPr>
            <a:r>
              <a:rPr sz="2100" b="0">
                <a:solidFill>
                  <a:srgbClr val="B7C4D2"/>
                </a:solidFill>
                <a:latin typeface="Helvetica Neue"/>
                <a:ea typeface="Helvetica Neue"/>
                <a:cs typeface="Helvetica Neue"/>
              </a:rPr>
              <a:t>Evolución de tres agentes y comparación de resultados</a:t>
            </a:r>
          </a:p>
        </p:txBody>
      </p:sp>
      <p:sp>
        <p:nvSpPr>
          <p:cNvPr id="4" name="">
            <a:extLst xmlns:a="http://schemas.openxmlformats.org/drawingml/2006/main">
              <a:ext uri="{FF2B5EF4-FFF2-40B4-BE49-F238E27FC236}">
                <a16:creationId xmlns:a16="http://schemas.microsoft.com/office/drawing/2014/main" id="{796A7118-F9F9-4A1E-BCB9-B3BF1A1A9F24}"/>
              </a:ext>
            </a:extLst>
          </p:cNvPr>
          <p:cNvSpPr>
            <a:spLocks xmlns:a="http://schemas.openxmlformats.org/drawingml/2006/main" noGrp="1"/>
          </p:cNvSpPr>
          <p:nvPr/>
        </p:nvSpPr>
        <p:spPr>
          <a:xfrm xmlns:a="http://schemas.openxmlformats.org/drawingml/2006/main">
            <a:off x="695325" y="528637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1F3F5"/>
                </a:solidFill>
                <a:latin typeface="Helvetica Neue"/>
                <a:ea typeface="Helvetica Neue"/>
                <a:cs typeface="Helvetica Neue"/>
              </a:defRPr>
            </a:pPr>
            <a:r>
              <a:rPr sz="2250" b="0">
                <a:solidFill>
                  <a:srgbClr val="F1F3F5"/>
                </a:solidFill>
                <a:latin typeface="Helvetica Neue"/>
                <a:ea typeface="Helvetica Neue"/>
                <a:cs typeface="Helvetica Neue"/>
              </a:rPr>
              <a:t>Higinio     Hugo     Javier</a:t>
            </a:r>
          </a:p>
        </p:txBody>
      </p:sp>
      <p:sp>
        <p:nvSpPr>
          <p:cNvPr id="5" name="">
            <a:extLst xmlns:a="http://schemas.openxmlformats.org/drawingml/2006/main">
              <a:ext uri="{FF2B5EF4-FFF2-40B4-BE49-F238E27FC236}">
                <a16:creationId xmlns:a16="http://schemas.microsoft.com/office/drawing/2014/main" id="{0FCE0BF2-5C32-4FCD-9360-64F5911DEFE2}"/>
              </a:ext>
            </a:extLst>
          </p:cNvPr>
          <p:cNvSpPr>
            <a:spLocks xmlns:a="http://schemas.openxmlformats.org/drawingml/2006/main" noGrp="1"/>
          </p:cNvSpPr>
          <p:nvPr/>
        </p:nvSpPr>
        <p:spPr>
          <a:xfrm xmlns:a="http://schemas.openxmlformats.org/drawingml/2006/main">
            <a:off x="695325" y="581977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7C4D2"/>
                </a:solidFill>
                <a:latin typeface="Helvetica Neue"/>
                <a:ea typeface="Helvetica Neue"/>
                <a:cs typeface="Helvetica Neue"/>
              </a:defRPr>
            </a:pPr>
            <a:r>
              <a:rPr sz="1650" b="0">
                <a:solidFill>
                  <a:srgbClr val="B7C4D2"/>
                </a:solidFill>
                <a:latin typeface="Helvetica Neue"/>
                <a:ea typeface="Helvetica Neue"/>
                <a:cs typeface="Helvetica Neue"/>
              </a:rPr>
              <a:t>24 de septiembre de 2026</a:t>
            </a:r>
          </a:p>
        </p:txBody>
      </p:sp>
    </p:spTree>
    <p:extLst>
      <p:ext uri="{BB962C8B-B14F-4D97-AF65-F5344CB8AC3E}">
        <p14:creationId xmlns:p14="http://schemas.microsoft.com/office/powerpoint/2010/main" val="54620929"/>
      </p:ext>
    </p:extLst>
  </p:cSld>
</p:sld>
</file>

<file path=ppt/slides/slide2.xml><?xml version="1.0" encoding="utf-8"?>
<p:sld xmlns:p="http://schemas.openxmlformats.org/presentationml/2006/main">
  <p:cSld>
    <p:bg>
      <p:bgPr>
        <a:solidFill xmlns:a="http://schemas.openxmlformats.org/drawingml/2006/main">
          <a:srgbClr val="0B1C3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71A0EA-46F5-47DC-9DE3-6C25F264ED1F}"/>
              </a:ext>
            </a:extLst>
          </p:cNvPr>
          <p:cNvSpPr>
            <a:spLocks xmlns:a="http://schemas.openxmlformats.org/drawingml/2006/main" noGrp="1"/>
          </p:cNvSpPr>
          <p:nvPr/>
        </p:nvSpPr>
        <p:spPr>
          <a:xfrm xmlns:a="http://schemas.openxmlformats.org/drawingml/2006/main">
            <a:off x="609600" y="4286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1F3F5"/>
                </a:solidFill>
                <a:latin typeface="Helvetica Neue"/>
                <a:ea typeface="Helvetica Neue"/>
                <a:cs typeface="Helvetica Neue"/>
              </a:defRPr>
            </a:pPr>
            <a:r>
              <a:rPr sz="3300" b="1">
                <a:solidFill>
                  <a:srgbClr val="F1F3F5"/>
                </a:solidFill>
                <a:latin typeface="Helvetica Neue"/>
                <a:ea typeface="Helvetica Neue"/>
                <a:cs typeface="Helvetica Neue"/>
              </a:rPr>
              <a:t>Higinio · búsqueda y control de la respuesta</a:t>
            </a:r>
          </a:p>
        </p:txBody>
      </p:sp>
      <p:sp>
        <p:nvSpPr>
          <p:cNvPr id="2" name="">
            <a:extLst xmlns:a="http://schemas.openxmlformats.org/drawingml/2006/main">
              <a:ext uri="{FF2B5EF4-FFF2-40B4-BE49-F238E27FC236}">
                <a16:creationId xmlns:a16="http://schemas.microsoft.com/office/drawing/2014/main" id="{A11D5D70-5FE9-4750-B2F7-F82EC14E1953}"/>
              </a:ext>
            </a:extLst>
          </p:cNvPr>
          <p:cNvSpPr>
            <a:spLocks xmlns:a="http://schemas.openxmlformats.org/drawingml/2006/main" noGrp="1"/>
          </p:cNvSpPr>
          <p:nvPr/>
        </p:nvSpPr>
        <p:spPr>
          <a:xfrm xmlns:a="http://schemas.openxmlformats.org/drawingml/2006/main">
            <a:off x="609600" y="11715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B7C4D2"/>
                </a:solidFill>
                <a:latin typeface="Helvetica Neue"/>
                <a:ea typeface="Helvetica Neue"/>
                <a:cs typeface="Helvetica Neue"/>
              </a:defRPr>
            </a:pPr>
            <a:r>
              <a:rPr sz="1725" b="0">
                <a:solidFill>
                  <a:srgbClr val="B7C4D2"/>
                </a:solidFill>
                <a:latin typeface="Helvetica Neue"/>
                <a:ea typeface="Helvetica Neue"/>
                <a:cs typeface="Helvetica Neue"/>
              </a:rPr>
              <a:t>Gemini 3.8 Flash / Gemma 4 26B A4B     Embeddings: BGE-small-en-v1.5</a:t>
            </a:r>
          </a:p>
        </p:txBody>
      </p:sp>
      <p:sp>
        <p:nvSpPr>
          <p:cNvPr id="3" name="">
            <a:extLst xmlns:a="http://schemas.openxmlformats.org/drawingml/2006/main">
              <a:ext uri="{FF2B5EF4-FFF2-40B4-BE49-F238E27FC236}">
                <a16:creationId xmlns:a16="http://schemas.microsoft.com/office/drawing/2014/main" id="{358442D7-D545-4F13-9ED6-D2CAA1DEABA5}"/>
              </a:ext>
            </a:extLst>
          </p:cNvPr>
          <p:cNvSpPr>
            <a:spLocks xmlns:a="http://schemas.openxmlformats.org/drawingml/2006/main" noGrp="1"/>
          </p:cNvSpPr>
          <p:nvPr/>
        </p:nvSpPr>
        <p:spPr>
          <a:xfrm xmlns:a="http://schemas.openxmlformats.org/drawingml/2006/main">
            <a:off x="1116330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7C4D2"/>
                </a:solidFill>
                <a:latin typeface="Helvetica Neue"/>
                <a:ea typeface="Helvetica Neue"/>
                <a:cs typeface="Helvetica Neue"/>
              </a:defRPr>
            </a:pPr>
            <a:r>
              <a:rPr sz="1275" b="0">
                <a:solidFill>
                  <a:srgbClr val="B7C4D2"/>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857D95B6-1422-4802-8AB8-79673BAF761D}"/>
              </a:ext>
            </a:extLst>
          </p:cNvPr>
          <p:cNvSpPr>
            <a:spLocks xmlns:a="http://schemas.openxmlformats.org/drawingml/2006/main" noGrp="1"/>
          </p:cNvSpPr>
          <p:nvPr/>
        </p:nvSpPr>
        <p:spPr>
          <a:xfrm xmlns:a="http://schemas.openxmlformats.org/drawingml/2006/main">
            <a:off x="647700" y="1838325"/>
            <a:ext cx="695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7C4D2"/>
                </a:solidFill>
                <a:latin typeface="Helvetica Neue"/>
                <a:ea typeface="Helvetica Neue"/>
                <a:cs typeface="Helvetica Neue"/>
              </a:defRPr>
            </a:pPr>
            <a:r>
              <a:rPr sz="1875" b="0">
                <a:solidFill>
                  <a:srgbClr val="B7C4D2"/>
                </a:solidFill>
                <a:latin typeface="Helvetica Neue"/>
                <a:ea typeface="Helvetica Neue"/>
                <a:cs typeface="Helvetica Neue"/>
              </a:rPr>
              <a:t>Aciertos sobre las 20 preguntas del equipo</a:t>
            </a:r>
          </a:p>
        </p:txBody>
      </p:sp>
      <p:graphicFrame>
        <p:nvGraphicFramePr>
          <p:cNvPr id="17" name="Chart"/>
          <p:cNvGraphicFramePr/>
          <p:nvPr/>
        </p:nvGraphicFramePr>
        <p:xfrm>
          <a:off xmlns:a="http://schemas.openxmlformats.org/drawingml/2006/main" x="571500" y="2333625"/>
          <a:ext xmlns:a="http://schemas.openxmlformats.org/drawingml/2006/main" cx="6858000" cy="2886075"/>
        </p:xfrm>
        <a:graphic xmlns:a="http://schemas.openxmlformats.org/drawingml/2006/main">
          <a:graphicData uri="http://schemas.openxmlformats.org/drawingml/2006/chart">
            <c:chart xmlns:r="http://schemas.openxmlformats.org/officeDocument/2006/relationships" xmlns:c="http://schemas.openxmlformats.org/drawingml/2006/chart" r:id="Rfc4918cc6c7c4261"/>
          </a:graphicData>
        </a:graphic>
      </p:graphicFrame>
      <p:sp>
        <p:nvSpPr>
          <p:cNvPr id="6" name="">
            <a:extLst xmlns:a="http://schemas.openxmlformats.org/drawingml/2006/main">
              <a:ext uri="{FF2B5EF4-FFF2-40B4-BE49-F238E27FC236}">
                <a16:creationId xmlns:a16="http://schemas.microsoft.com/office/drawing/2014/main" id="{DA90F667-44AE-4BDF-96CE-95C572DA685A}"/>
              </a:ext>
            </a:extLst>
          </p:cNvPr>
          <p:cNvSpPr>
            <a:spLocks xmlns:a="http://schemas.openxmlformats.org/drawingml/2006/main" noGrp="1"/>
          </p:cNvSpPr>
          <p:nvPr/>
        </p:nvSpPr>
        <p:spPr>
          <a:xfrm xmlns:a="http://schemas.openxmlformats.org/drawingml/2006/main">
            <a:off x="7943850" y="2095500"/>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D4B57B"/>
                </a:solidFill>
                <a:latin typeface="Helvetica Neue"/>
                <a:ea typeface="Helvetica Neue"/>
                <a:cs typeface="Helvetica Neue"/>
              </a:defRPr>
            </a:pPr>
            <a:r>
              <a:rPr sz="2100" b="1">
                <a:solidFill>
                  <a:srgbClr val="D4B57B"/>
                </a:solidFill>
                <a:latin typeface="Helvetica Neue"/>
                <a:ea typeface="Helvetica Neue"/>
                <a:cs typeface="Helvetica Neue"/>
              </a:rPr>
              <a:t>La restricción que restó</a:t>
            </a:r>
          </a:p>
        </p:txBody>
      </p:sp>
      <p:sp>
        <p:nvSpPr>
          <p:cNvPr id="7" name="">
            <a:extLst xmlns:a="http://schemas.openxmlformats.org/drawingml/2006/main">
              <a:ext uri="{FF2B5EF4-FFF2-40B4-BE49-F238E27FC236}">
                <a16:creationId xmlns:a16="http://schemas.microsoft.com/office/drawing/2014/main" id="{621B859A-0773-422B-AC35-939B8B5682AF}"/>
              </a:ext>
            </a:extLst>
          </p:cNvPr>
          <p:cNvSpPr>
            <a:spLocks xmlns:a="http://schemas.openxmlformats.org/drawingml/2006/main" noGrp="1"/>
          </p:cNvSpPr>
          <p:nvPr/>
        </p:nvSpPr>
        <p:spPr>
          <a:xfrm xmlns:a="http://schemas.openxmlformats.org/drawingml/2006/main">
            <a:off x="7943850" y="2695575"/>
            <a:ext cx="3571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1F3F5"/>
                </a:solidFill>
                <a:latin typeface="Helvetica Neue"/>
                <a:ea typeface="Helvetica Neue"/>
                <a:cs typeface="Helvetica Neue"/>
              </a:defRPr>
            </a:pPr>
            <a:r>
              <a:rPr sz="1875" b="0">
                <a:solidFill>
                  <a:srgbClr val="F1F3F5"/>
                </a:solidFill>
                <a:latin typeface="Helvetica Neue"/>
                <a:ea typeface="Helvetica Neue"/>
                <a:cs typeface="Helvetica Neue"/>
              </a:rPr>
              <a:t>El esquema comparativo rígido</a:t>
            </a:r>
          </a:p>
          <a:p xmlns:a="http://schemas.openxmlformats.org/drawingml/2006/main">
            <a:pPr>
              <a:buNone/>
              <a:defRPr sz="1875" b="0">
                <a:solidFill>
                  <a:srgbClr val="F1F3F5"/>
                </a:solidFill>
                <a:latin typeface="Helvetica Neue"/>
                <a:ea typeface="Helvetica Neue"/>
                <a:cs typeface="Helvetica Neue"/>
              </a:defRPr>
            </a:pPr>
            <a:r>
              <a:rPr sz="1875" b="0">
                <a:solidFill>
                  <a:srgbClr val="F1F3F5"/>
                </a:solidFill>
                <a:latin typeface="Helvetica Neue"/>
                <a:ea typeface="Helvetica Neue"/>
                <a:cs typeface="Helvetica Neue"/>
              </a:rPr>
              <a:t>bajó el resultado a 13/20.</a:t>
            </a:r>
          </a:p>
        </p:txBody>
      </p:sp>
      <p:sp>
        <p:nvSpPr>
          <p:cNvPr id="8" name="">
            <a:extLst xmlns:a="http://schemas.openxmlformats.org/drawingml/2006/main">
              <a:ext uri="{FF2B5EF4-FFF2-40B4-BE49-F238E27FC236}">
                <a16:creationId xmlns:a16="http://schemas.microsoft.com/office/drawing/2014/main" id="{74A1B06D-298A-4E1D-8025-C602195E9872}"/>
              </a:ext>
            </a:extLst>
          </p:cNvPr>
          <p:cNvSpPr>
            <a:spLocks xmlns:a="http://schemas.openxmlformats.org/drawingml/2006/main" noGrp="1"/>
          </p:cNvSpPr>
          <p:nvPr/>
        </p:nvSpPr>
        <p:spPr>
          <a:xfrm xmlns:a="http://schemas.openxmlformats.org/drawingml/2006/main">
            <a:off x="7943850" y="387667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1F3F5"/>
                </a:solidFill>
                <a:latin typeface="Helvetica Neue"/>
                <a:ea typeface="Helvetica Neue"/>
                <a:cs typeface="Helvetica Neue"/>
              </a:defRPr>
            </a:pPr>
            <a:r>
              <a:rPr sz="1950" b="1">
                <a:solidFill>
                  <a:srgbClr val="F1F3F5"/>
                </a:solidFill>
                <a:latin typeface="Helvetica Neue"/>
                <a:ea typeface="Helvetica Neue"/>
                <a:cs typeface="Helvetica Neue"/>
              </a:rPr>
              <a:t>Versión elegida: v018</a:t>
            </a:r>
          </a:p>
        </p:txBody>
      </p:sp>
      <p:sp>
        <p:nvSpPr>
          <p:cNvPr id="9" name="">
            <a:extLst xmlns:a="http://schemas.openxmlformats.org/drawingml/2006/main">
              <a:ext uri="{FF2B5EF4-FFF2-40B4-BE49-F238E27FC236}">
                <a16:creationId xmlns:a16="http://schemas.microsoft.com/office/drawing/2014/main" id="{5484E93D-0A5F-4056-949C-A9F25F0BA83F}"/>
              </a:ext>
            </a:extLst>
          </p:cNvPr>
          <p:cNvSpPr>
            <a:spLocks xmlns:a="http://schemas.openxmlformats.org/drawingml/2006/main" noGrp="1"/>
          </p:cNvSpPr>
          <p:nvPr/>
        </p:nvSpPr>
        <p:spPr>
          <a:xfrm xmlns:a="http://schemas.openxmlformats.org/drawingml/2006/main">
            <a:off x="7943850" y="4352925"/>
            <a:ext cx="3571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7C4D2"/>
                </a:solidFill>
                <a:latin typeface="Helvetica Neue"/>
                <a:ea typeface="Helvetica Neue"/>
                <a:cs typeface="Helvetica Neue"/>
              </a:defRPr>
            </a:pPr>
            <a:r>
              <a:rPr sz="1800" b="0">
                <a:solidFill>
                  <a:srgbClr val="B7C4D2"/>
                </a:solidFill>
                <a:latin typeface="Helvetica Neue"/>
                <a:ea typeface="Helvetica Neue"/>
                <a:cs typeface="Helvetica Neue"/>
              </a:rPr>
              <a:t>Búsqueda híbrida, evidencia</a:t>
            </a:r>
          </a:p>
          <a:p xmlns:a="http://schemas.openxmlformats.org/drawingml/2006/main">
            <a:pPr>
              <a:buNone/>
              <a:defRPr sz="1800" b="0">
                <a:solidFill>
                  <a:srgbClr val="B7C4D2"/>
                </a:solidFill>
                <a:latin typeface="Helvetica Neue"/>
                <a:ea typeface="Helvetica Neue"/>
                <a:cs typeface="Helvetica Neue"/>
              </a:defRPr>
            </a:pPr>
            <a:r>
              <a:rPr sz="1800" b="0">
                <a:solidFill>
                  <a:srgbClr val="B7C4D2"/>
                </a:solidFill>
                <a:latin typeface="Helvetica Neue"/>
                <a:ea typeface="Helvetica Neue"/>
                <a:cs typeface="Helvetica Neue"/>
              </a:rPr>
              <a:t>y verificación XBRL.</a:t>
            </a:r>
          </a:p>
          <a:p xmlns:a="http://schemas.openxmlformats.org/drawingml/2006/main">
            <a:pPr>
              <a:buNone/>
              <a:defRPr sz="1800" b="0">
                <a:solidFill>
                  <a:srgbClr val="B7C4D2"/>
                </a:solidFill>
                <a:latin typeface="Helvetica Neue"/>
                <a:ea typeface="Helvetica Neue"/>
                <a:cs typeface="Helvetica Neue"/>
              </a:defRPr>
            </a:pPr>
            <a:r>
              <a:rPr sz="1800" b="0">
                <a:solidFill>
                  <a:srgbClr val="B7C4D2"/>
                </a:solidFill>
                <a:latin typeface="Helvetica Neue"/>
                <a:ea typeface="Helvetica Neue"/>
                <a:cs typeface="Helvetica Neue"/>
              </a:rPr>
              <a:t>Ausencias: 12/12 adicionales.</a:t>
            </a:r>
          </a:p>
        </p:txBody>
      </p:sp>
      <p:sp>
        <p:nvSpPr>
          <p:cNvPr id="10" name="">
            <a:extLst xmlns:a="http://schemas.openxmlformats.org/drawingml/2006/main">
              <a:ext uri="{FF2B5EF4-FFF2-40B4-BE49-F238E27FC236}">
                <a16:creationId xmlns:a16="http://schemas.microsoft.com/office/drawing/2014/main" id="{9561D7EC-4CE0-498A-A403-FBA237D530C9}"/>
              </a:ext>
            </a:extLst>
          </p:cNvPr>
          <p:cNvSpPr>
            <a:spLocks xmlns:a="http://schemas.openxmlformats.org/drawingml/2006/main" noGrp="1"/>
          </p:cNvSpPr>
          <p:nvPr/>
        </p:nvSpPr>
        <p:spPr>
          <a:xfrm xmlns:a="http://schemas.openxmlformats.org/drawingml/2006/main">
            <a:off x="647700" y="570547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7C4D2"/>
                </a:solidFill>
                <a:latin typeface="Helvetica Neue"/>
                <a:ea typeface="Helvetica Neue"/>
                <a:cs typeface="Helvetica Neue"/>
              </a:defRPr>
            </a:pPr>
            <a:r>
              <a:rPr sz="1800" b="0">
                <a:solidFill>
                  <a:srgbClr val="B7C4D2"/>
                </a:solidFill>
                <a:latin typeface="Helvetica Neue"/>
                <a:ea typeface="Helvetica Neue"/>
                <a:cs typeface="Helvetica Neue"/>
              </a:rPr>
              <a:t>Gemma, en v016: 13/20 con menor coste. Embeddings constantes.</a:t>
            </a:r>
          </a:p>
        </p:txBody>
      </p:sp>
    </p:spTree>
    <p:extLst>
      <p:ext uri="{BB962C8B-B14F-4D97-AF65-F5344CB8AC3E}">
        <p14:creationId xmlns:p14="http://schemas.microsoft.com/office/powerpoint/2010/main" val="1159604505"/>
      </p:ext>
    </p:extLst>
  </p:cSld>
</p:sld>
</file>

<file path=ppt/slides/slide3.xml><?xml version="1.0" encoding="utf-8"?>
<p:sld xmlns:p="http://schemas.openxmlformats.org/presentationml/2006/main">
  <p:cSld>
    <p:bg>
      <p:bgPr>
        <a:solidFill xmlns:a="http://schemas.openxmlformats.org/drawingml/2006/main">
          <a:srgbClr val="0B1C3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1FD1A6-6B71-4C69-8DB9-CF088B602DC5}"/>
              </a:ext>
            </a:extLst>
          </p:cNvPr>
          <p:cNvSpPr>
            <a:spLocks xmlns:a="http://schemas.openxmlformats.org/drawingml/2006/main" noGrp="1"/>
          </p:cNvSpPr>
          <p:nvPr/>
        </p:nvSpPr>
        <p:spPr>
          <a:xfrm xmlns:a="http://schemas.openxmlformats.org/drawingml/2006/main">
            <a:off x="609600" y="4286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1F3F5"/>
                </a:solidFill>
                <a:latin typeface="Helvetica Neue"/>
                <a:ea typeface="Helvetica Neue"/>
                <a:cs typeface="Helvetica Neue"/>
              </a:defRPr>
            </a:pPr>
            <a:r>
              <a:rPr sz="3300" b="1">
                <a:solidFill>
                  <a:srgbClr val="F1F3F5"/>
                </a:solidFill>
                <a:latin typeface="Helvetica Neue"/>
                <a:ea typeface="Helvetica Neue"/>
                <a:cs typeface="Helvetica Neue"/>
              </a:rPr>
              <a:t>Hugo · formato, comparativas y decimales</a:t>
            </a:r>
          </a:p>
        </p:txBody>
      </p:sp>
      <p:sp>
        <p:nvSpPr>
          <p:cNvPr id="2" name="">
            <a:extLst xmlns:a="http://schemas.openxmlformats.org/drawingml/2006/main">
              <a:ext uri="{FF2B5EF4-FFF2-40B4-BE49-F238E27FC236}">
                <a16:creationId xmlns:a16="http://schemas.microsoft.com/office/drawing/2014/main" id="{74973E85-E593-4E89-896B-E5DBE3226B2C}"/>
              </a:ext>
            </a:extLst>
          </p:cNvPr>
          <p:cNvSpPr>
            <a:spLocks xmlns:a="http://schemas.openxmlformats.org/drawingml/2006/main" noGrp="1"/>
          </p:cNvSpPr>
          <p:nvPr/>
        </p:nvSpPr>
        <p:spPr>
          <a:xfrm xmlns:a="http://schemas.openxmlformats.org/drawingml/2006/main">
            <a:off x="609600" y="11715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B7C4D2"/>
                </a:solidFill>
                <a:latin typeface="Helvetica Neue"/>
                <a:ea typeface="Helvetica Neue"/>
                <a:cs typeface="Helvetica Neue"/>
              </a:defRPr>
            </a:pPr>
            <a:r>
              <a:rPr sz="1725" b="0">
                <a:solidFill>
                  <a:srgbClr val="B7C4D2"/>
                </a:solidFill>
                <a:latin typeface="Helvetica Neue"/>
                <a:ea typeface="Helvetica Neue"/>
                <a:cs typeface="Helvetica Neue"/>
              </a:rPr>
              <a:t>Claude Haiku 4.5 / Sonnet 5     Embeddings: BGE-small-en-v1.5</a:t>
            </a:r>
          </a:p>
        </p:txBody>
      </p:sp>
      <p:sp>
        <p:nvSpPr>
          <p:cNvPr id="3" name="">
            <a:extLst xmlns:a="http://schemas.openxmlformats.org/drawingml/2006/main">
              <a:ext uri="{FF2B5EF4-FFF2-40B4-BE49-F238E27FC236}">
                <a16:creationId xmlns:a16="http://schemas.microsoft.com/office/drawing/2014/main" id="{62D2901C-39A9-42F8-BE07-105CD6B84A60}"/>
              </a:ext>
            </a:extLst>
          </p:cNvPr>
          <p:cNvSpPr>
            <a:spLocks xmlns:a="http://schemas.openxmlformats.org/drawingml/2006/main" noGrp="1"/>
          </p:cNvSpPr>
          <p:nvPr/>
        </p:nvSpPr>
        <p:spPr>
          <a:xfrm xmlns:a="http://schemas.openxmlformats.org/drawingml/2006/main">
            <a:off x="1116330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7C4D2"/>
                </a:solidFill>
                <a:latin typeface="Helvetica Neue"/>
                <a:ea typeface="Helvetica Neue"/>
                <a:cs typeface="Helvetica Neue"/>
              </a:defRPr>
            </a:pPr>
            <a:r>
              <a:rPr sz="1275" b="0">
                <a:solidFill>
                  <a:srgbClr val="B7C4D2"/>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307A9B42-8506-4786-99E1-97E2B6A83C0C}"/>
              </a:ext>
            </a:extLst>
          </p:cNvPr>
          <p:cNvSpPr>
            <a:spLocks xmlns:a="http://schemas.openxmlformats.org/drawingml/2006/main" noGrp="1"/>
          </p:cNvSpPr>
          <p:nvPr/>
        </p:nvSpPr>
        <p:spPr>
          <a:xfrm xmlns:a="http://schemas.openxmlformats.org/drawingml/2006/main">
            <a:off x="647700" y="1838325"/>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7C4D2"/>
                </a:solidFill>
                <a:latin typeface="Helvetica Neue"/>
                <a:ea typeface="Helvetica Neue"/>
                <a:cs typeface="Helvetica Neue"/>
              </a:defRPr>
            </a:pPr>
            <a:r>
              <a:rPr sz="1875" b="0">
                <a:solidFill>
                  <a:srgbClr val="B7C4D2"/>
                </a:solidFill>
                <a:latin typeface="Helvetica Neue"/>
                <a:ea typeface="Helvetica Neue"/>
                <a:cs typeface="Helvetica Neue"/>
              </a:rPr>
              <a:t>Sonnet 5: aciertos sobre las 20 preguntas del equipo</a:t>
            </a:r>
          </a:p>
        </p:txBody>
      </p:sp>
      <p:graphicFrame>
        <p:nvGraphicFramePr>
          <p:cNvPr id="16" name="Chart"/>
          <p:cNvGraphicFramePr/>
          <p:nvPr/>
        </p:nvGraphicFramePr>
        <p:xfrm>
          <a:off xmlns:a="http://schemas.openxmlformats.org/drawingml/2006/main" x="571500" y="2333625"/>
          <a:ext xmlns:a="http://schemas.openxmlformats.org/drawingml/2006/main" cx="6858000" cy="2886075"/>
        </p:xfrm>
        <a:graphic xmlns:a="http://schemas.openxmlformats.org/drawingml/2006/main">
          <a:graphicData uri="http://schemas.openxmlformats.org/drawingml/2006/chart">
            <c:chart xmlns:r="http://schemas.openxmlformats.org/officeDocument/2006/relationships" xmlns:c="http://schemas.openxmlformats.org/drawingml/2006/chart" r:id="R1828361ef31242cf"/>
          </a:graphicData>
        </a:graphic>
      </p:graphicFrame>
      <p:sp>
        <p:nvSpPr>
          <p:cNvPr id="6" name="">
            <a:extLst xmlns:a="http://schemas.openxmlformats.org/drawingml/2006/main">
              <a:ext uri="{FF2B5EF4-FFF2-40B4-BE49-F238E27FC236}">
                <a16:creationId xmlns:a16="http://schemas.microsoft.com/office/drawing/2014/main" id="{2673D7B1-0B75-4AB1-B3D7-D771F08AF7AE}"/>
              </a:ext>
            </a:extLst>
          </p:cNvPr>
          <p:cNvSpPr>
            <a:spLocks xmlns:a="http://schemas.openxmlformats.org/drawingml/2006/main" noGrp="1"/>
          </p:cNvSpPr>
          <p:nvPr/>
        </p:nvSpPr>
        <p:spPr>
          <a:xfrm xmlns:a="http://schemas.openxmlformats.org/drawingml/2006/main">
            <a:off x="7943850" y="2095500"/>
            <a:ext cx="361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D4B57B"/>
                </a:solidFill>
                <a:latin typeface="Helvetica Neue"/>
                <a:ea typeface="Helvetica Neue"/>
                <a:cs typeface="Helvetica Neue"/>
              </a:defRPr>
            </a:pPr>
            <a:r>
              <a:rPr sz="2100" b="1">
                <a:solidFill>
                  <a:srgbClr val="D4B57B"/>
                </a:solidFill>
                <a:latin typeface="Helvetica Neue"/>
                <a:ea typeface="Helvetica Neue"/>
                <a:cs typeface="Helvetica Neue"/>
              </a:rPr>
              <a:t>El 20/20 ocultaba un fallo</a:t>
            </a:r>
          </a:p>
        </p:txBody>
      </p:sp>
      <p:sp>
        <p:nvSpPr>
          <p:cNvPr id="7" name="">
            <a:extLst xmlns:a="http://schemas.openxmlformats.org/drawingml/2006/main">
              <a:ext uri="{FF2B5EF4-FFF2-40B4-BE49-F238E27FC236}">
                <a16:creationId xmlns:a16="http://schemas.microsoft.com/office/drawing/2014/main" id="{EAEC984C-2C22-41ED-8C52-73E9C23E6709}"/>
              </a:ext>
            </a:extLst>
          </p:cNvPr>
          <p:cNvSpPr>
            <a:spLocks xmlns:a="http://schemas.openxmlformats.org/drawingml/2006/main" noGrp="1"/>
          </p:cNvSpPr>
          <p:nvPr/>
        </p:nvSpPr>
        <p:spPr>
          <a:xfrm xmlns:a="http://schemas.openxmlformats.org/drawingml/2006/main">
            <a:off x="7943850" y="2886075"/>
            <a:ext cx="3619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1F3F5"/>
                </a:solidFill>
                <a:latin typeface="Helvetica Neue"/>
                <a:ea typeface="Helvetica Neue"/>
                <a:cs typeface="Helvetica Neue"/>
              </a:defRPr>
            </a:pPr>
            <a:r>
              <a:rPr sz="1875" b="0">
                <a:solidFill>
                  <a:srgbClr val="F1F3F5"/>
                </a:solidFill>
                <a:latin typeface="Helvetica Neue"/>
                <a:ea typeface="Helvetica Neue"/>
                <a:cs typeface="Helvetica Neue"/>
              </a:rPr>
              <a:t>Prueba de estrés: 5/8 a 8/8.</a:t>
            </a:r>
          </a:p>
          <a:p xmlns:a="http://schemas.openxmlformats.org/drawingml/2006/main">
            <a:pPr>
              <a:buNone/>
              <a:defRPr sz="1875" b="0">
                <a:solidFill>
                  <a:srgbClr val="F1F3F5"/>
                </a:solidFill>
                <a:latin typeface="Helvetica Neue"/>
                <a:ea typeface="Helvetica Neue"/>
                <a:cs typeface="Helvetica Neue"/>
              </a:defRPr>
            </a:pPr>
            <a:r>
              <a:rPr sz="1875" b="0">
                <a:solidFill>
                  <a:srgbClr val="F1F3F5"/>
                </a:solidFill>
                <a:latin typeface="Helvetica Neue"/>
                <a:ea typeface="Helvetica Neue"/>
                <a:cs typeface="Helvetica Neue"/>
              </a:rPr>
              <a:t>El control XBRL recuperó</a:t>
            </a:r>
          </a:p>
          <a:p xmlns:a="http://schemas.openxmlformats.org/drawingml/2006/main">
            <a:pPr>
              <a:buNone/>
              <a:defRPr sz="1875" b="0">
                <a:solidFill>
                  <a:srgbClr val="F1F3F5"/>
                </a:solidFill>
                <a:latin typeface="Helvetica Neue"/>
                <a:ea typeface="Helvetica Neue"/>
                <a:cs typeface="Helvetica Neue"/>
              </a:defRPr>
            </a:pPr>
            <a:r>
              <a:rPr sz="1875" b="0">
                <a:solidFill>
                  <a:srgbClr val="F1F3F5"/>
                </a:solidFill>
                <a:latin typeface="Helvetica Neue"/>
                <a:ea typeface="Helvetica Neue"/>
                <a:cs typeface="Helvetica Neue"/>
              </a:rPr>
              <a:t>los decimales del beneficio</a:t>
            </a:r>
          </a:p>
          <a:p xmlns:a="http://schemas.openxmlformats.org/drawingml/2006/main">
            <a:pPr>
              <a:buNone/>
              <a:defRPr sz="1875" b="0">
                <a:solidFill>
                  <a:srgbClr val="F1F3F5"/>
                </a:solidFill>
                <a:latin typeface="Helvetica Neue"/>
                <a:ea typeface="Helvetica Neue"/>
                <a:cs typeface="Helvetica Neue"/>
              </a:defRPr>
            </a:pPr>
            <a:r>
              <a:rPr sz="1875" b="0">
                <a:solidFill>
                  <a:srgbClr val="F1F3F5"/>
                </a:solidFill>
                <a:latin typeface="Helvetica Neue"/>
                <a:ea typeface="Helvetica Neue"/>
                <a:cs typeface="Helvetica Neue"/>
              </a:rPr>
              <a:t>por acción.</a:t>
            </a:r>
          </a:p>
        </p:txBody>
      </p:sp>
      <p:sp>
        <p:nvSpPr>
          <p:cNvPr id="8" name="">
            <a:extLst xmlns:a="http://schemas.openxmlformats.org/drawingml/2006/main">
              <a:ext uri="{FF2B5EF4-FFF2-40B4-BE49-F238E27FC236}">
                <a16:creationId xmlns:a16="http://schemas.microsoft.com/office/drawing/2014/main" id="{C5CB70E4-58E2-4340-BB4D-B7AB6CB4A72E}"/>
              </a:ext>
            </a:extLst>
          </p:cNvPr>
          <p:cNvSpPr>
            <a:spLocks xmlns:a="http://schemas.openxmlformats.org/drawingml/2006/main" noGrp="1"/>
          </p:cNvSpPr>
          <p:nvPr/>
        </p:nvSpPr>
        <p:spPr>
          <a:xfrm xmlns:a="http://schemas.openxmlformats.org/drawingml/2006/main">
            <a:off x="7943850" y="44386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1F3F5"/>
                </a:solidFill>
                <a:latin typeface="Helvetica Neue"/>
                <a:ea typeface="Helvetica Neue"/>
                <a:cs typeface="Helvetica Neue"/>
              </a:defRPr>
            </a:pPr>
            <a:r>
              <a:rPr sz="1950" b="1">
                <a:solidFill>
                  <a:srgbClr val="F1F3F5"/>
                </a:solidFill>
                <a:latin typeface="Helvetica Neue"/>
                <a:ea typeface="Helvetica Neue"/>
                <a:cs typeface="Helvetica Neue"/>
              </a:rPr>
              <a:t>Apple 2025: 7,00 a 7,46 USD/acción</a:t>
            </a:r>
          </a:p>
        </p:txBody>
      </p:sp>
      <p:sp>
        <p:nvSpPr>
          <p:cNvPr id="9" name="">
            <a:extLst xmlns:a="http://schemas.openxmlformats.org/drawingml/2006/main">
              <a:ext uri="{FF2B5EF4-FFF2-40B4-BE49-F238E27FC236}">
                <a16:creationId xmlns:a16="http://schemas.microsoft.com/office/drawing/2014/main" id="{C322703F-CC58-4DBB-A89C-9664080CDA26}"/>
              </a:ext>
            </a:extLst>
          </p:cNvPr>
          <p:cNvSpPr>
            <a:spLocks xmlns:a="http://schemas.openxmlformats.org/drawingml/2006/main" noGrp="1"/>
          </p:cNvSpPr>
          <p:nvPr/>
        </p:nvSpPr>
        <p:spPr>
          <a:xfrm xmlns:a="http://schemas.openxmlformats.org/drawingml/2006/main">
            <a:off x="647700" y="57054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7C4D2"/>
                </a:solidFill>
                <a:latin typeface="Helvetica Neue"/>
                <a:ea typeface="Helvetica Neue"/>
                <a:cs typeface="Helvetica Neue"/>
              </a:defRPr>
            </a:pPr>
            <a:r>
              <a:rPr sz="1800" b="0">
                <a:solidFill>
                  <a:srgbClr val="B7C4D2"/>
                </a:solidFill>
                <a:latin typeface="Helvetica Neue"/>
                <a:ea typeface="Helvetica Neue"/>
                <a:cs typeface="Helvetica Neue"/>
              </a:rPr>
              <a:t>Haiku v001: 7/20. Sonnet v005: 20/20. Mismo modelo de embeddings.</a:t>
            </a:r>
          </a:p>
        </p:txBody>
      </p:sp>
    </p:spTree>
    <p:extLst>
      <p:ext uri="{BB962C8B-B14F-4D97-AF65-F5344CB8AC3E}">
        <p14:creationId xmlns:p14="http://schemas.microsoft.com/office/powerpoint/2010/main" val="755964630"/>
      </p:ext>
    </p:extLst>
  </p:cSld>
</p:sld>
</file>

<file path=ppt/slides/slide4.xml><?xml version="1.0" encoding="utf-8"?>
<p:sld xmlns:p="http://schemas.openxmlformats.org/presentationml/2006/main">
  <p:cSld>
    <p:bg>
      <p:bgPr>
        <a:solidFill xmlns:a="http://schemas.openxmlformats.org/drawingml/2006/main">
          <a:srgbClr val="0B1C3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399719-C0D2-4758-A1E2-883412302015}"/>
              </a:ext>
            </a:extLst>
          </p:cNvPr>
          <p:cNvSpPr>
            <a:spLocks xmlns:a="http://schemas.openxmlformats.org/drawingml/2006/main" noGrp="1"/>
          </p:cNvSpPr>
          <p:nvPr/>
        </p:nvSpPr>
        <p:spPr>
          <a:xfrm xmlns:a="http://schemas.openxmlformats.org/drawingml/2006/main">
            <a:off x="609600" y="4286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1F3F5"/>
                </a:solidFill>
                <a:latin typeface="Helvetica Neue"/>
                <a:ea typeface="Helvetica Neue"/>
                <a:cs typeface="Helvetica Neue"/>
              </a:defRPr>
            </a:pPr>
            <a:r>
              <a:rPr sz="3300" b="1">
                <a:solidFill>
                  <a:srgbClr val="F1F3F5"/>
                </a:solidFill>
                <a:latin typeface="Helvetica Neue"/>
                <a:ea typeface="Helvetica Neue"/>
                <a:cs typeface="Helvetica Neue"/>
              </a:rPr>
              <a:t>Javier · menos llamadas y abstención precisa</a:t>
            </a:r>
          </a:p>
        </p:txBody>
      </p:sp>
      <p:sp>
        <p:nvSpPr>
          <p:cNvPr id="2" name="">
            <a:extLst xmlns:a="http://schemas.openxmlformats.org/drawingml/2006/main">
              <a:ext uri="{FF2B5EF4-FFF2-40B4-BE49-F238E27FC236}">
                <a16:creationId xmlns:a16="http://schemas.microsoft.com/office/drawing/2014/main" id="{0DFA739F-3D7A-4ABD-9599-0008FA46ED4B}"/>
              </a:ext>
            </a:extLst>
          </p:cNvPr>
          <p:cNvSpPr>
            <a:spLocks xmlns:a="http://schemas.openxmlformats.org/drawingml/2006/main" noGrp="1"/>
          </p:cNvSpPr>
          <p:nvPr/>
        </p:nvSpPr>
        <p:spPr>
          <a:xfrm xmlns:a="http://schemas.openxmlformats.org/drawingml/2006/main">
            <a:off x="609600" y="11715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B7C4D2"/>
                </a:solidFill>
                <a:latin typeface="Helvetica Neue"/>
                <a:ea typeface="Helvetica Neue"/>
                <a:cs typeface="Helvetica Neue"/>
              </a:defRPr>
            </a:pPr>
            <a:r>
              <a:rPr sz="1725" b="0">
                <a:solidFill>
                  <a:srgbClr val="B7C4D2"/>
                </a:solidFill>
                <a:latin typeface="Helvetica Neue"/>
                <a:ea typeface="Helvetica Neue"/>
                <a:cs typeface="Helvetica Neue"/>
              </a:rPr>
              <a:t>DeepSeek V4 Flash 0731     Embeddings: Voyage 4 Lite (1.024 dimensiones)</a:t>
            </a:r>
          </a:p>
        </p:txBody>
      </p:sp>
      <p:sp>
        <p:nvSpPr>
          <p:cNvPr id="3" name="">
            <a:extLst xmlns:a="http://schemas.openxmlformats.org/drawingml/2006/main">
              <a:ext uri="{FF2B5EF4-FFF2-40B4-BE49-F238E27FC236}">
                <a16:creationId xmlns:a16="http://schemas.microsoft.com/office/drawing/2014/main" id="{5D258BC3-0D8C-4712-8F64-388C915E9BCB}"/>
              </a:ext>
            </a:extLst>
          </p:cNvPr>
          <p:cNvSpPr>
            <a:spLocks xmlns:a="http://schemas.openxmlformats.org/drawingml/2006/main" noGrp="1"/>
          </p:cNvSpPr>
          <p:nvPr/>
        </p:nvSpPr>
        <p:spPr>
          <a:xfrm xmlns:a="http://schemas.openxmlformats.org/drawingml/2006/main">
            <a:off x="1116330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7C4D2"/>
                </a:solidFill>
                <a:latin typeface="Helvetica Neue"/>
                <a:ea typeface="Helvetica Neue"/>
                <a:cs typeface="Helvetica Neue"/>
              </a:defRPr>
            </a:pPr>
            <a:r>
              <a:rPr sz="1275" b="0">
                <a:solidFill>
                  <a:srgbClr val="B7C4D2"/>
                </a:solidFill>
                <a:latin typeface="Helvetica Neue"/>
                <a:ea typeface="Helvetica Neue"/>
                <a:cs typeface="Helvetica Neue"/>
              </a:rPr>
              <a:t>04</a:t>
            </a:r>
          </a:p>
        </p:txBody>
      </p:sp>
      <p:graphicFrame>
        <p:nvGraphicFramePr>
          <p:cNvPr id="13" name=""/>
          <p:cNvGraphicFramePr/>
          <p:nvPr/>
        </p:nvGraphicFramePr>
        <p:xfrm>
          <a:off xmlns:a="http://schemas.openxmlformats.org/drawingml/2006/main" x="609600" y="1933575"/>
          <a:ext xmlns:a="http://schemas.openxmlformats.org/drawingml/2006/main" cx="10972800" cy="3048000"/>
        </p:xfrm>
        <a:graphic xmlns:a="http://schemas.openxmlformats.org/drawingml/2006/main">
          <a:graphicData uri="http://schemas.openxmlformats.org/drawingml/2006/table">
            <a:tbl>
              <a:tblPr/>
              <a:tblGrid>
                <a:gridCol w="1714500"/>
                <a:gridCol w="2381250"/>
                <a:gridCol w="2095500"/>
                <a:gridCol w="4781550"/>
              </a:tblGrid>
              <a:tr h="762000">
                <a:tc>
                  <a:txBody>
                    <a:bodyPr>
                      <a:noAutofit/>
                    </a:bodyPr>
                    <a:lstStyle/>
                    <a:p>
                      <a:r>
                        <a:rPr sz="1800" b="1">
                          <a:solidFill>
                            <a:srgbClr val="B7C4D2"/>
                          </a:solidFill>
                          <a:latin typeface="Helvetica Neue"/>
                          <a:ea typeface="Helvetica Neue"/>
                          <a:cs typeface="Helvetica Neue"/>
                        </a:rPr>
                        <a:t>Versión</a:t>
                      </a:r>
                    </a:p>
                  </a:txBody>
                  <a:tcPr marL="133350" marR="114300" marT="114300" marB="95250">
                    <a:solidFill>
                      <a:srgbClr val="0B1C32"/>
                    </a:solidFill>
                  </a:tcPr>
                </a:tc>
                <a:tc>
                  <a:txBody>
                    <a:bodyPr>
                      <a:noAutofit/>
                    </a:bodyPr>
                    <a:lstStyle/>
                    <a:p>
                      <a:r>
                        <a:rPr sz="1800" b="1">
                          <a:solidFill>
                            <a:srgbClr val="B7C4D2"/>
                          </a:solidFill>
                          <a:latin typeface="Helvetica Neue"/>
                          <a:ea typeface="Helvetica Neue"/>
                          <a:cs typeface="Helvetica Neue"/>
                        </a:rPr>
                        <a:t>Equipo + oficial</a:t>
                      </a:r>
                    </a:p>
                  </a:txBody>
                  <a:tcPr marL="133350" marR="114300" marT="114300" marB="95250">
                    <a:solidFill>
                      <a:srgbClr val="0B1C32"/>
                    </a:solidFill>
                  </a:tcPr>
                </a:tc>
                <a:tc>
                  <a:txBody>
                    <a:bodyPr>
                      <a:noAutofit/>
                    </a:bodyPr>
                    <a:lstStyle/>
                    <a:p>
                      <a:r>
                        <a:rPr sz="1800" b="1">
                          <a:solidFill>
                            <a:srgbClr val="B7C4D2"/>
                          </a:solidFill>
                          <a:latin typeface="Helvetica Neue"/>
                          <a:ea typeface="Helvetica Neue"/>
                          <a:cs typeface="Helvetica Neue"/>
                        </a:rPr>
                        <a:t>Casos sin dato</a:t>
                      </a:r>
                    </a:p>
                  </a:txBody>
                  <a:tcPr marL="133350" marR="114300" marT="114300" marB="95250">
                    <a:solidFill>
                      <a:srgbClr val="0B1C32"/>
                    </a:solidFill>
                  </a:tcPr>
                </a:tc>
                <a:tc>
                  <a:txBody>
                    <a:bodyPr>
                      <a:noAutofit/>
                    </a:bodyPr>
                    <a:lstStyle/>
                    <a:p>
                      <a:r>
                        <a:rPr sz="1800" b="1">
                          <a:solidFill>
                            <a:srgbClr val="B7C4D2"/>
                          </a:solidFill>
                          <a:latin typeface="Helvetica Neue"/>
                          <a:ea typeface="Helvetica Neue"/>
                          <a:cs typeface="Helvetica Neue"/>
                        </a:rPr>
                        <a:t>Cambio principal</a:t>
                      </a:r>
                    </a:p>
                  </a:txBody>
                  <a:tcPr marL="133350" marR="114300" marT="114300" marB="95250">
                    <a:solidFill>
                      <a:srgbClr val="0B1C32"/>
                    </a:solidFill>
                  </a:tcPr>
                </a:tc>
              </a:tr>
              <a:tr h="762000">
                <a:tc>
                  <a:txBody>
                    <a:bodyPr>
                      <a:noAutofit/>
                    </a:bodyPr>
                    <a:lstStyle/>
                    <a:p>
                      <a:r>
                        <a:rPr sz="1800" b="1">
                          <a:solidFill>
                            <a:srgbClr val="F1F3F5"/>
                          </a:solidFill>
                          <a:latin typeface="Helvetica Neue"/>
                          <a:ea typeface="Helvetica Neue"/>
                          <a:cs typeface="Helvetica Neue"/>
                        </a:rPr>
                        <a:t>v1</a:t>
                      </a:r>
                    </a:p>
                  </a:txBody>
                  <a:tcPr marL="133350" marR="114300" marT="114300" marB="95250">
                    <a:solidFill>
                      <a:srgbClr val="0B1C32"/>
                    </a:solidFill>
                  </a:tcPr>
                </a:tc>
                <a:tc>
                  <a:txBody>
                    <a:bodyPr>
                      <a:noAutofit/>
                    </a:bodyPr>
                    <a:lstStyle/>
                    <a:p>
                      <a:r>
                        <a:rPr sz="1800" b="0">
                          <a:solidFill>
                            <a:srgbClr val="F1F3F5"/>
                          </a:solidFill>
                          <a:latin typeface="Helvetica Neue"/>
                          <a:ea typeface="Helvetica Neue"/>
                          <a:cs typeface="Helvetica Neue"/>
                        </a:rPr>
                        <a:t>37/40</a:t>
                      </a:r>
                    </a:p>
                  </a:txBody>
                  <a:tcPr marL="133350" marR="114300" marT="114300" marB="95250">
                    <a:solidFill>
                      <a:srgbClr val="0B1C32"/>
                    </a:solidFill>
                  </a:tcPr>
                </a:tc>
                <a:tc>
                  <a:txBody>
                    <a:bodyPr>
                      <a:noAutofit/>
                    </a:bodyPr>
                    <a:lstStyle/>
                    <a:p>
                      <a:r>
                        <a:rPr sz="1800" b="0">
                          <a:solidFill>
                            <a:srgbClr val="F1F3F5"/>
                          </a:solidFill>
                          <a:latin typeface="Helvetica Neue"/>
                          <a:ea typeface="Helvetica Neue"/>
                          <a:cs typeface="Helvetica Neue"/>
                        </a:rPr>
                        <a:t>Sin evaluar aquí</a:t>
                      </a:r>
                    </a:p>
                  </a:txBody>
                  <a:tcPr marL="133350" marR="114300" marT="114300" marB="95250">
                    <a:solidFill>
                      <a:srgbClr val="0B1C32"/>
                    </a:solidFill>
                  </a:tcPr>
                </a:tc>
                <a:tc>
                  <a:txBody>
                    <a:bodyPr>
                      <a:noAutofit/>
                    </a:bodyPr>
                    <a:lstStyle/>
                    <a:p>
                      <a:r>
                        <a:rPr sz="1800" b="0">
                          <a:solidFill>
                            <a:srgbClr val="F1F3F5"/>
                          </a:solidFill>
                          <a:latin typeface="Helvetica Neue"/>
                          <a:ea typeface="Helvetica Neue"/>
                          <a:cs typeface="Helvetica Neue"/>
                        </a:rPr>
                        <a:t>Validación propia, hasta 18 llamadas</a:t>
                      </a:r>
                    </a:p>
                  </a:txBody>
                  <a:tcPr marL="133350" marR="114300" marT="114300" marB="95250">
                    <a:solidFill>
                      <a:srgbClr val="0B1C32"/>
                    </a:solidFill>
                  </a:tcPr>
                </a:tc>
              </a:tr>
              <a:tr h="762000">
                <a:tc>
                  <a:txBody>
                    <a:bodyPr>
                      <a:noAutofit/>
                    </a:bodyPr>
                    <a:lstStyle/>
                    <a:p>
                      <a:r>
                        <a:rPr sz="1800" b="1">
                          <a:solidFill>
                            <a:srgbClr val="F1F3F5"/>
                          </a:solidFill>
                          <a:latin typeface="Helvetica Neue"/>
                          <a:ea typeface="Helvetica Neue"/>
                          <a:cs typeface="Helvetica Neue"/>
                        </a:rPr>
                        <a:t>v2</a:t>
                      </a:r>
                    </a:p>
                  </a:txBody>
                  <a:tcPr marL="133350" marR="114300" marT="114300" marB="95250">
                    <a:solidFill>
                      <a:srgbClr val="0B1C32"/>
                    </a:solidFill>
                  </a:tcPr>
                </a:tc>
                <a:tc>
                  <a:txBody>
                    <a:bodyPr>
                      <a:noAutofit/>
                    </a:bodyPr>
                    <a:lstStyle/>
                    <a:p>
                      <a:r>
                        <a:rPr sz="1800" b="0">
                          <a:solidFill>
                            <a:srgbClr val="F1F3F5"/>
                          </a:solidFill>
                          <a:latin typeface="Helvetica Neue"/>
                          <a:ea typeface="Helvetica Neue"/>
                          <a:cs typeface="Helvetica Neue"/>
                        </a:rPr>
                        <a:t>40/40</a:t>
                      </a:r>
                    </a:p>
                  </a:txBody>
                  <a:tcPr marL="133350" marR="114300" marT="114300" marB="95250">
                    <a:solidFill>
                      <a:srgbClr val="0B1C32"/>
                    </a:solidFill>
                  </a:tcPr>
                </a:tc>
                <a:tc>
                  <a:txBody>
                    <a:bodyPr>
                      <a:noAutofit/>
                    </a:bodyPr>
                    <a:lstStyle/>
                    <a:p>
                      <a:r>
                        <a:rPr sz="1800" b="0">
                          <a:solidFill>
                            <a:srgbClr val="F1F3F5"/>
                          </a:solidFill>
                          <a:latin typeface="Helvetica Neue"/>
                          <a:ea typeface="Helvetica Neue"/>
                          <a:cs typeface="Helvetica Neue"/>
                        </a:rPr>
                        <a:t>5/12¹</a:t>
                      </a:r>
                    </a:p>
                  </a:txBody>
                  <a:tcPr marL="133350" marR="114300" marT="114300" marB="95250">
                    <a:solidFill>
                      <a:srgbClr val="0B1C32"/>
                    </a:solidFill>
                  </a:tcPr>
                </a:tc>
                <a:tc>
                  <a:txBody>
                    <a:bodyPr>
                      <a:noAutofit/>
                    </a:bodyPr>
                    <a:lstStyle/>
                    <a:p>
                      <a:r>
                        <a:rPr sz="1800" b="0">
                          <a:solidFill>
                            <a:srgbClr val="F1F3F5"/>
                          </a:solidFill>
                          <a:latin typeface="Helvetica Neue"/>
                          <a:ea typeface="Helvetica Neue"/>
                          <a:cs typeface="Helvetica Neue"/>
                        </a:rPr>
                        <a:t>Prompt simplificado, hasta 6 llamadas</a:t>
                      </a:r>
                    </a:p>
                  </a:txBody>
                  <a:tcPr marL="133350" marR="114300" marT="114300" marB="95250">
                    <a:solidFill>
                      <a:srgbClr val="0B1C32"/>
                    </a:solidFill>
                  </a:tcPr>
                </a:tc>
              </a:tr>
              <a:tr h="762000">
                <a:tc>
                  <a:txBody>
                    <a:bodyPr>
                      <a:noAutofit/>
                    </a:bodyPr>
                    <a:lstStyle/>
                    <a:p>
                      <a:r>
                        <a:rPr sz="1800" b="1">
                          <a:solidFill>
                            <a:srgbClr val="F1F3F5"/>
                          </a:solidFill>
                          <a:latin typeface="Helvetica Neue"/>
                          <a:ea typeface="Helvetica Neue"/>
                          <a:cs typeface="Helvetica Neue"/>
                        </a:rPr>
                        <a:t>v3 ajustada</a:t>
                      </a:r>
                    </a:p>
                  </a:txBody>
                  <a:tcPr marL="133350" marR="114300" marT="114300" marB="95250">
                    <a:solidFill>
                      <a:srgbClr val="0B1C32"/>
                    </a:solidFill>
                  </a:tcPr>
                </a:tc>
                <a:tc>
                  <a:txBody>
                    <a:bodyPr>
                      <a:noAutofit/>
                    </a:bodyPr>
                    <a:lstStyle/>
                    <a:p>
                      <a:r>
                        <a:rPr sz="1800" b="0">
                          <a:solidFill>
                            <a:srgbClr val="F1F3F5"/>
                          </a:solidFill>
                          <a:latin typeface="Helvetica Neue"/>
                          <a:ea typeface="Helvetica Neue"/>
                          <a:cs typeface="Helvetica Neue"/>
                        </a:rPr>
                        <a:t>40/40</a:t>
                      </a:r>
                    </a:p>
                  </a:txBody>
                  <a:tcPr marL="133350" marR="114300" marT="114300" marB="95250">
                    <a:solidFill>
                      <a:srgbClr val="0B1C32"/>
                    </a:solidFill>
                  </a:tcPr>
                </a:tc>
                <a:tc>
                  <a:txBody>
                    <a:bodyPr>
                      <a:noAutofit/>
                    </a:bodyPr>
                    <a:lstStyle/>
                    <a:p>
                      <a:r>
                        <a:rPr sz="1800" b="0">
                          <a:solidFill>
                            <a:srgbClr val="F1F3F5"/>
                          </a:solidFill>
                          <a:latin typeface="Helvetica Neue"/>
                          <a:ea typeface="Helvetica Neue"/>
                          <a:cs typeface="Helvetica Neue"/>
                        </a:rPr>
                        <a:t>12/12</a:t>
                      </a:r>
                    </a:p>
                  </a:txBody>
                  <a:tcPr marL="133350" marR="114300" marT="114300" marB="95250">
                    <a:solidFill>
                      <a:srgbClr val="0B1C32"/>
                    </a:solidFill>
                  </a:tcPr>
                </a:tc>
                <a:tc>
                  <a:txBody>
                    <a:bodyPr>
                      <a:noAutofit/>
                    </a:bodyPr>
                    <a:lstStyle/>
                    <a:p>
                      <a:r>
                        <a:rPr sz="1800" b="0">
                          <a:solidFill>
                            <a:srgbClr val="F1F3F5"/>
                          </a:solidFill>
                          <a:latin typeface="Helvetica Neue"/>
                          <a:ea typeface="Helvetica Neue"/>
                          <a:cs typeface="Helvetica Neue"/>
                        </a:rPr>
                        <a:t>Abstención y etiquetas de ingresos</a:t>
                      </a:r>
                    </a:p>
                  </a:txBody>
                  <a:tcPr marL="133350" marR="114300" marT="114300" marB="95250">
                    <a:solidFill>
                      <a:srgbClr val="0B1C32"/>
                    </a:solidFill>
                  </a:tcPr>
                </a:tc>
              </a:tr>
            </a:tbl>
          </a:graphicData>
        </a:graphic>
      </p:graphicFrame>
      <p:sp>
        <p:nvSpPr>
          <p:cNvPr id="5" name="">
            <a:extLst xmlns:a="http://schemas.openxmlformats.org/drawingml/2006/main">
              <a:ext uri="{FF2B5EF4-FFF2-40B4-BE49-F238E27FC236}">
                <a16:creationId xmlns:a16="http://schemas.microsoft.com/office/drawing/2014/main" id="{B2917AE4-A264-43E6-A3D5-49FC3C7CDEF2}"/>
              </a:ext>
            </a:extLst>
          </p:cNvPr>
          <p:cNvSpPr>
            <a:spLocks xmlns:a="http://schemas.openxmlformats.org/drawingml/2006/main" noGrp="1"/>
          </p:cNvSpPr>
          <p:nvPr/>
        </p:nvSpPr>
        <p:spPr>
          <a:xfrm xmlns:a="http://schemas.openxmlformats.org/drawingml/2006/main">
            <a:off x="628650" y="5238750"/>
            <a:ext cx="2238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D4B57B"/>
                </a:solidFill>
                <a:latin typeface="Helvetica Neue"/>
                <a:ea typeface="Helvetica Neue"/>
                <a:cs typeface="Helvetica Neue"/>
              </a:defRPr>
            </a:pPr>
            <a:r>
              <a:rPr sz="4650" b="1">
                <a:solidFill>
                  <a:srgbClr val="D4B57B"/>
                </a:solidFill>
                <a:latin typeface="Helvetica Neue"/>
                <a:ea typeface="Helvetica Neue"/>
                <a:cs typeface="Helvetica Neue"/>
              </a:rPr>
              <a:t>52/52</a:t>
            </a:r>
          </a:p>
        </p:txBody>
      </p:sp>
      <p:sp>
        <p:nvSpPr>
          <p:cNvPr id="6" name="">
            <a:extLst xmlns:a="http://schemas.openxmlformats.org/drawingml/2006/main">
              <a:ext uri="{FF2B5EF4-FFF2-40B4-BE49-F238E27FC236}">
                <a16:creationId xmlns:a16="http://schemas.microsoft.com/office/drawing/2014/main" id="{2D74B414-EE0B-486F-B5CD-CF12F8BC0FE7}"/>
              </a:ext>
            </a:extLst>
          </p:cNvPr>
          <p:cNvSpPr>
            <a:spLocks xmlns:a="http://schemas.openxmlformats.org/drawingml/2006/main" noGrp="1"/>
          </p:cNvSpPr>
          <p:nvPr/>
        </p:nvSpPr>
        <p:spPr>
          <a:xfrm xmlns:a="http://schemas.openxmlformats.org/drawingml/2006/main">
            <a:off x="3133725" y="5343525"/>
            <a:ext cx="790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1F3F5"/>
                </a:solidFill>
                <a:latin typeface="Helvetica Neue"/>
                <a:ea typeface="Helvetica Neue"/>
                <a:cs typeface="Helvetica Neue"/>
              </a:defRPr>
            </a:pPr>
            <a:r>
              <a:rPr sz="1950" b="0">
                <a:solidFill>
                  <a:srgbClr val="F1F3F5"/>
                </a:solidFill>
                <a:latin typeface="Helvetica Neue"/>
                <a:ea typeface="Helvetica Neue"/>
                <a:cs typeface="Helvetica Neue"/>
              </a:rPr>
              <a:t>v3: 40 preguntas conocidas + 12 casos de ausencia.</a:t>
            </a:r>
          </a:p>
          <a:p xmlns:a="http://schemas.openxmlformats.org/drawingml/2006/main">
            <a:pPr>
              <a:buNone/>
              <a:defRPr sz="1950" b="0">
                <a:solidFill>
                  <a:srgbClr val="F1F3F5"/>
                </a:solidFill>
                <a:latin typeface="Helvetica Neue"/>
                <a:ea typeface="Helvetica Neue"/>
                <a:cs typeface="Helvetica Neue"/>
              </a:defRPr>
            </a:pPr>
            <a:r>
              <a:rPr sz="1950" b="0">
                <a:solidFill>
                  <a:srgbClr val="F1F3F5"/>
                </a:solidFill>
                <a:latin typeface="Helvetica Neue"/>
                <a:ea typeface="Helvetica Neue"/>
                <a:cs typeface="Helvetica Neue"/>
              </a:rPr>
              <a:t>Mismos modelos y recuperador durante la evolución.</a:t>
            </a:r>
          </a:p>
        </p:txBody>
      </p:sp>
      <p:sp>
        <p:nvSpPr>
          <p:cNvPr id="7" name="">
            <a:extLst xmlns:a="http://schemas.openxmlformats.org/drawingml/2006/main">
              <a:ext uri="{FF2B5EF4-FFF2-40B4-BE49-F238E27FC236}">
                <a16:creationId xmlns:a16="http://schemas.microsoft.com/office/drawing/2014/main" id="{0A161F91-1B3F-418B-8679-F1A3B4AB2FB8}"/>
              </a:ext>
            </a:extLst>
          </p:cNvPr>
          <p:cNvSpPr>
            <a:spLocks xmlns:a="http://schemas.openxmlformats.org/drawingml/2006/main" noGrp="1"/>
          </p:cNvSpPr>
          <p:nvPr/>
        </p:nvSpPr>
        <p:spPr>
          <a:xfrm xmlns:a="http://schemas.openxmlformats.org/drawingml/2006/main">
            <a:off x="628650" y="62865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7C4D2"/>
                </a:solidFill>
                <a:latin typeface="Helvetica Neue"/>
                <a:ea typeface="Helvetica Neue"/>
                <a:cs typeface="Helvetica Neue"/>
              </a:defRPr>
            </a:pPr>
            <a:r>
              <a:rPr sz="1275" b="0">
                <a:solidFill>
                  <a:srgbClr val="B7C4D2"/>
                </a:solidFill>
                <a:latin typeface="Helvetica Neue"/>
                <a:ea typeface="Helvetica Neue"/>
                <a:cs typeface="Helvetica Neue"/>
              </a:rPr>
              <a:t>¹ Campaña adicional de v2. La v3 incorpora la regla de abstención propuesta por Higinio.</a:t>
            </a:r>
          </a:p>
        </p:txBody>
      </p:sp>
    </p:spTree>
    <p:extLst>
      <p:ext uri="{BB962C8B-B14F-4D97-AF65-F5344CB8AC3E}">
        <p14:creationId xmlns:p14="http://schemas.microsoft.com/office/powerpoint/2010/main" val="1241336899"/>
      </p:ext>
    </p:extLst>
  </p:cSld>
</p:sld>
</file>

<file path=ppt/slides/slide5.xml><?xml version="1.0" encoding="utf-8"?>
<p:sld xmlns:p="http://schemas.openxmlformats.org/presentationml/2006/main">
  <p:cSld>
    <p:bg>
      <p:bgPr>
        <a:solidFill xmlns:a="http://schemas.openxmlformats.org/drawingml/2006/main">
          <a:srgbClr val="0B1C3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645B03-00E0-465D-9869-88AC026EAECE}"/>
              </a:ext>
            </a:extLst>
          </p:cNvPr>
          <p:cNvSpPr>
            <a:spLocks xmlns:a="http://schemas.openxmlformats.org/drawingml/2006/main" noGrp="1"/>
          </p:cNvSpPr>
          <p:nvPr/>
        </p:nvSpPr>
        <p:spPr>
          <a:xfrm xmlns:a="http://schemas.openxmlformats.org/drawingml/2006/main">
            <a:off x="609600" y="4286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1F3F5"/>
                </a:solidFill>
                <a:latin typeface="Helvetica Neue"/>
                <a:ea typeface="Helvetica Neue"/>
                <a:cs typeface="Helvetica Neue"/>
              </a:defRPr>
            </a:pPr>
            <a:r>
              <a:rPr sz="3300" b="1">
                <a:solidFill>
                  <a:srgbClr val="F1F3F5"/>
                </a:solidFill>
                <a:latin typeface="Helvetica Neue"/>
                <a:ea typeface="Helvetica Neue"/>
                <a:cs typeface="Helvetica Neue"/>
              </a:rPr>
              <a:t>Qdrant · recuperación con contexto de sección</a:t>
            </a:r>
          </a:p>
        </p:txBody>
      </p:sp>
      <p:sp>
        <p:nvSpPr>
          <p:cNvPr id="2" name="">
            <a:extLst xmlns:a="http://schemas.openxmlformats.org/drawingml/2006/main">
              <a:ext uri="{FF2B5EF4-FFF2-40B4-BE49-F238E27FC236}">
                <a16:creationId xmlns:a16="http://schemas.microsoft.com/office/drawing/2014/main" id="{F4457667-82C3-404A-B94B-FAF81639528B}"/>
              </a:ext>
            </a:extLst>
          </p:cNvPr>
          <p:cNvSpPr>
            <a:spLocks xmlns:a="http://schemas.openxmlformats.org/drawingml/2006/main" noGrp="1"/>
          </p:cNvSpPr>
          <p:nvPr/>
        </p:nvSpPr>
        <p:spPr>
          <a:xfrm xmlns:a="http://schemas.openxmlformats.org/drawingml/2006/main">
            <a:off x="609600" y="11715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B7C4D2"/>
                </a:solidFill>
                <a:latin typeface="Helvetica Neue"/>
                <a:ea typeface="Helvetica Neue"/>
                <a:cs typeface="Helvetica Neue"/>
              </a:defRPr>
            </a:pPr>
            <a:r>
              <a:rPr sz="1725" b="0">
                <a:solidFill>
                  <a:srgbClr val="B7C4D2"/>
                </a:solidFill>
                <a:latin typeface="Helvetica Neue"/>
                <a:ea typeface="Helvetica Neue"/>
                <a:cs typeface="Helvetica Neue"/>
              </a:rPr>
              <a:t>Javier</a:t>
            </a:r>
          </a:p>
        </p:txBody>
      </p:sp>
      <p:sp>
        <p:nvSpPr>
          <p:cNvPr id="3" name="">
            <a:extLst xmlns:a="http://schemas.openxmlformats.org/drawingml/2006/main">
              <a:ext uri="{FF2B5EF4-FFF2-40B4-BE49-F238E27FC236}">
                <a16:creationId xmlns:a16="http://schemas.microsoft.com/office/drawing/2014/main" id="{29CCD6D2-621A-4AFE-BF2B-9139A52219B8}"/>
              </a:ext>
            </a:extLst>
          </p:cNvPr>
          <p:cNvSpPr>
            <a:spLocks xmlns:a="http://schemas.openxmlformats.org/drawingml/2006/main" noGrp="1"/>
          </p:cNvSpPr>
          <p:nvPr/>
        </p:nvSpPr>
        <p:spPr>
          <a:xfrm xmlns:a="http://schemas.openxmlformats.org/drawingml/2006/main">
            <a:off x="1116330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7C4D2"/>
                </a:solidFill>
                <a:latin typeface="Helvetica Neue"/>
                <a:ea typeface="Helvetica Neue"/>
                <a:cs typeface="Helvetica Neue"/>
              </a:defRPr>
            </a:pPr>
            <a:r>
              <a:rPr sz="1275" b="0">
                <a:solidFill>
                  <a:srgbClr val="B7C4D2"/>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99219856-668D-4CE0-808F-8BA9A1B46B26}"/>
              </a:ext>
            </a:extLst>
          </p:cNvPr>
          <p:cNvSpPr>
            <a:spLocks xmlns:a="http://schemas.openxmlformats.org/drawingml/2006/main" noGrp="1"/>
          </p:cNvSpPr>
          <p:nvPr/>
        </p:nvSpPr>
        <p:spPr>
          <a:xfrm xmlns:a="http://schemas.openxmlformats.org/drawingml/2006/main">
            <a:off x="638175" y="1857375"/>
            <a:ext cx="4191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250" b="1">
                <a:solidFill>
                  <a:srgbClr val="D4B57B"/>
                </a:solidFill>
                <a:latin typeface="Helvetica Neue"/>
                <a:ea typeface="Helvetica Neue"/>
                <a:cs typeface="Helvetica Neue"/>
              </a:defRPr>
            </a:pPr>
            <a:r>
              <a:rPr sz="5250" b="1">
                <a:solidFill>
                  <a:srgbClr val="D4B57B"/>
                </a:solidFill>
                <a:latin typeface="Helvetica Neue"/>
                <a:ea typeface="Helvetica Neue"/>
                <a:cs typeface="Helvetica Neue"/>
              </a:rPr>
              <a:t>1.749</a:t>
            </a:r>
          </a:p>
        </p:txBody>
      </p:sp>
      <p:sp>
        <p:nvSpPr>
          <p:cNvPr id="5" name="">
            <a:extLst xmlns:a="http://schemas.openxmlformats.org/drawingml/2006/main">
              <a:ext uri="{FF2B5EF4-FFF2-40B4-BE49-F238E27FC236}">
                <a16:creationId xmlns:a16="http://schemas.microsoft.com/office/drawing/2014/main" id="{61110CFE-BC7C-44FC-9562-07E973504779}"/>
              </a:ext>
            </a:extLst>
          </p:cNvPr>
          <p:cNvSpPr>
            <a:spLocks xmlns:a="http://schemas.openxmlformats.org/drawingml/2006/main" noGrp="1"/>
          </p:cNvSpPr>
          <p:nvPr/>
        </p:nvSpPr>
        <p:spPr>
          <a:xfrm xmlns:a="http://schemas.openxmlformats.org/drawingml/2006/main">
            <a:off x="666750" y="269557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7C4D2"/>
                </a:solidFill>
                <a:latin typeface="Helvetica Neue"/>
                <a:ea typeface="Helvetica Neue"/>
                <a:cs typeface="Helvetica Neue"/>
              </a:defRPr>
            </a:pPr>
            <a:r>
              <a:rPr sz="1875" b="0">
                <a:solidFill>
                  <a:srgbClr val="B7C4D2"/>
                </a:solidFill>
                <a:latin typeface="Helvetica Neue"/>
                <a:ea typeface="Helvetica Neue"/>
                <a:cs typeface="Helvetica Neue"/>
              </a:rPr>
              <a:t>vectores del corpus reutilizados</a:t>
            </a:r>
          </a:p>
        </p:txBody>
      </p:sp>
      <p:sp>
        <p:nvSpPr>
          <p:cNvPr id="6" name="">
            <a:extLst xmlns:a="http://schemas.openxmlformats.org/drawingml/2006/main">
              <a:ext uri="{FF2B5EF4-FFF2-40B4-BE49-F238E27FC236}">
                <a16:creationId xmlns:a16="http://schemas.microsoft.com/office/drawing/2014/main" id="{D4D9CBD0-7619-4057-B3B7-86C3732E39B5}"/>
              </a:ext>
            </a:extLst>
          </p:cNvPr>
          <p:cNvSpPr>
            <a:spLocks xmlns:a="http://schemas.openxmlformats.org/drawingml/2006/main" noGrp="1"/>
          </p:cNvSpPr>
          <p:nvPr/>
        </p:nvSpPr>
        <p:spPr>
          <a:xfrm xmlns:a="http://schemas.openxmlformats.org/drawingml/2006/main">
            <a:off x="666750" y="3638550"/>
            <a:ext cx="438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F1F3F5"/>
                </a:solidFill>
                <a:latin typeface="Helvetica Neue"/>
                <a:ea typeface="Helvetica Neue"/>
                <a:cs typeface="Helvetica Neue"/>
              </a:defRPr>
            </a:pPr>
            <a:r>
              <a:rPr sz="2100" b="0">
                <a:solidFill>
                  <a:srgbClr val="F1F3F5"/>
                </a:solidFill>
                <a:latin typeface="Helvetica Neue"/>
                <a:ea typeface="Helvetica Neue"/>
                <a:cs typeface="Helvetica Neue"/>
              </a:rPr>
              <a:t>Docker local</a:t>
            </a:r>
          </a:p>
          <a:p xmlns:a="http://schemas.openxmlformats.org/drawingml/2006/main">
            <a:pPr>
              <a:buNone/>
              <a:defRPr sz="2100" b="0">
                <a:solidFill>
                  <a:srgbClr val="F1F3F5"/>
                </a:solidFill>
                <a:latin typeface="Helvetica Neue"/>
                <a:ea typeface="Helvetica Neue"/>
                <a:cs typeface="Helvetica Neue"/>
              </a:defRPr>
            </a:pPr>
            <a:r>
              <a:rPr sz="2100" b="0">
                <a:solidFill>
                  <a:srgbClr val="F1F3F5"/>
                </a:solidFill>
                <a:latin typeface="Helvetica Neue"/>
                <a:ea typeface="Helvetica Neue"/>
                <a:cs typeface="Helvetica Neue"/>
              </a:rPr>
              <a:t>1.024 dimensiones por fragmento</a:t>
            </a:r>
          </a:p>
          <a:p xmlns:a="http://schemas.openxmlformats.org/drawingml/2006/main">
            <a:pPr>
              <a:buNone/>
              <a:defRPr sz="2100" b="0">
                <a:solidFill>
                  <a:srgbClr val="F1F3F5"/>
                </a:solidFill>
                <a:latin typeface="Helvetica Neue"/>
                <a:ea typeface="Helvetica Neue"/>
                <a:cs typeface="Helvetica Neue"/>
              </a:defRPr>
            </a:pPr>
            <a:r>
              <a:rPr sz="2100" b="0">
                <a:solidFill>
                  <a:srgbClr val="F1F3F5"/>
                </a:solidFill>
                <a:latin typeface="Helvetica Neue"/>
                <a:ea typeface="Helvetica Neue"/>
                <a:cs typeface="Helvetica Neue"/>
              </a:rPr>
              <a:t>Filtros por empresa, año y sección</a:t>
            </a:r>
          </a:p>
        </p:txBody>
      </p:sp>
      <p:sp>
        <p:nvSpPr>
          <p:cNvPr id="7" name="">
            <a:extLst xmlns:a="http://schemas.openxmlformats.org/drawingml/2006/main">
              <a:ext uri="{FF2B5EF4-FFF2-40B4-BE49-F238E27FC236}">
                <a16:creationId xmlns:a16="http://schemas.microsoft.com/office/drawing/2014/main" id="{B68F5E1D-B8BA-4A1F-8367-CF5AB2CA3D9E}"/>
              </a:ext>
            </a:extLst>
          </p:cNvPr>
          <p:cNvSpPr>
            <a:spLocks xmlns:a="http://schemas.openxmlformats.org/drawingml/2006/main" noGrp="1"/>
          </p:cNvSpPr>
          <p:nvPr/>
        </p:nvSpPr>
        <p:spPr>
          <a:xfrm xmlns:a="http://schemas.openxmlformats.org/drawingml/2006/main">
            <a:off x="5667375" y="19812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1F3F5"/>
                </a:solidFill>
                <a:latin typeface="Helvetica Neue"/>
                <a:ea typeface="Helvetica Neue"/>
                <a:cs typeface="Helvetica Neue"/>
              </a:defRPr>
            </a:pPr>
            <a:r>
              <a:rPr sz="1950" b="1">
                <a:solidFill>
                  <a:srgbClr val="F1F3F5"/>
                </a:solidFill>
                <a:latin typeface="Helvetica Neue"/>
                <a:ea typeface="Helvetica Neue"/>
                <a:cs typeface="Helvetica Neue"/>
              </a:rPr>
              <a:t>01   La consulta se convierte en un vector</a:t>
            </a:r>
          </a:p>
        </p:txBody>
      </p:sp>
      <p:sp>
        <p:nvSpPr>
          <p:cNvPr id="8" name="">
            <a:extLst xmlns:a="http://schemas.openxmlformats.org/drawingml/2006/main">
              <a:ext uri="{FF2B5EF4-FFF2-40B4-BE49-F238E27FC236}">
                <a16:creationId xmlns:a16="http://schemas.microsoft.com/office/drawing/2014/main" id="{B277120D-76B7-4D61-AC84-FEB69CD500CB}"/>
              </a:ext>
            </a:extLst>
          </p:cNvPr>
          <p:cNvSpPr>
            <a:spLocks xmlns:a="http://schemas.openxmlformats.org/drawingml/2006/main" noGrp="1"/>
          </p:cNvSpPr>
          <p:nvPr/>
        </p:nvSpPr>
        <p:spPr>
          <a:xfrm xmlns:a="http://schemas.openxmlformats.org/drawingml/2006/main">
            <a:off x="5667375" y="291465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1F3F5"/>
                </a:solidFill>
                <a:latin typeface="Helvetica Neue"/>
                <a:ea typeface="Helvetica Neue"/>
                <a:cs typeface="Helvetica Neue"/>
              </a:defRPr>
            </a:pPr>
            <a:r>
              <a:rPr sz="1950" b="1">
                <a:solidFill>
                  <a:srgbClr val="F1F3F5"/>
                </a:solidFill>
                <a:latin typeface="Helvetica Neue"/>
                <a:ea typeface="Helvetica Neue"/>
                <a:cs typeface="Helvetica Neue"/>
              </a:rPr>
              <a:t>02   Qdrant encuentra fragmentos con filtros</a:t>
            </a:r>
          </a:p>
        </p:txBody>
      </p:sp>
      <p:sp>
        <p:nvSpPr>
          <p:cNvPr id="9" name="">
            <a:extLst xmlns:a="http://schemas.openxmlformats.org/drawingml/2006/main">
              <a:ext uri="{FF2B5EF4-FFF2-40B4-BE49-F238E27FC236}">
                <a16:creationId xmlns:a16="http://schemas.microsoft.com/office/drawing/2014/main" id="{D864EC05-A59B-44B6-B178-E9CAD23BBAEB}"/>
              </a:ext>
            </a:extLst>
          </p:cNvPr>
          <p:cNvSpPr>
            <a:spLocks xmlns:a="http://schemas.openxmlformats.org/drawingml/2006/main" noGrp="1"/>
          </p:cNvSpPr>
          <p:nvPr/>
        </p:nvSpPr>
        <p:spPr>
          <a:xfrm xmlns:a="http://schemas.openxmlformats.org/drawingml/2006/main">
            <a:off x="5667375" y="38481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1F3F5"/>
                </a:solidFill>
                <a:latin typeface="Helvetica Neue"/>
                <a:ea typeface="Helvetica Neue"/>
                <a:cs typeface="Helvetica Neue"/>
              </a:defRPr>
            </a:pPr>
            <a:r>
              <a:rPr sz="1950" b="1">
                <a:solidFill>
                  <a:srgbClr val="F1F3F5"/>
                </a:solidFill>
                <a:latin typeface="Helvetica Neue"/>
                <a:ea typeface="Helvetica Neue"/>
                <a:cs typeface="Helvetica Neue"/>
              </a:rPr>
              <a:t>03   El agente recibe la sección completa</a:t>
            </a:r>
          </a:p>
        </p:txBody>
      </p:sp>
      <p:sp>
        <p:nvSpPr>
          <p:cNvPr id="10" name="">
            <a:extLst xmlns:a="http://schemas.openxmlformats.org/drawingml/2006/main">
              <a:ext uri="{FF2B5EF4-FFF2-40B4-BE49-F238E27FC236}">
                <a16:creationId xmlns:a16="http://schemas.microsoft.com/office/drawing/2014/main" id="{506811E5-3599-4536-A3B0-9F2079B13AF1}"/>
              </a:ext>
            </a:extLst>
          </p:cNvPr>
          <p:cNvSpPr>
            <a:spLocks xmlns:a="http://schemas.openxmlformats.org/drawingml/2006/main" noGrp="1"/>
          </p:cNvSpPr>
          <p:nvPr/>
        </p:nvSpPr>
        <p:spPr>
          <a:xfrm xmlns:a="http://schemas.openxmlformats.org/drawingml/2006/main">
            <a:off x="666750" y="5543550"/>
            <a:ext cx="1033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7C4D2"/>
                </a:solidFill>
                <a:latin typeface="Helvetica Neue"/>
                <a:ea typeface="Helvetica Neue"/>
                <a:cs typeface="Helvetica Neue"/>
              </a:defRPr>
            </a:pPr>
            <a:r>
              <a:rPr sz="1950" b="0">
                <a:solidFill>
                  <a:srgbClr val="B7C4D2"/>
                </a:solidFill>
                <a:latin typeface="Helvetica Neue"/>
                <a:ea typeface="Helvetica Neue"/>
                <a:cs typeface="Helvetica Neue"/>
              </a:rPr>
              <a:t>Los modelos y embeddings se ejecutan en la nube.</a:t>
            </a:r>
          </a:p>
          <a:p xmlns:a="http://schemas.openxmlformats.org/drawingml/2006/main">
            <a:pPr>
              <a:buNone/>
              <a:defRPr sz="1950" b="0">
                <a:solidFill>
                  <a:srgbClr val="B7C4D2"/>
                </a:solidFill>
                <a:latin typeface="Helvetica Neue"/>
                <a:ea typeface="Helvetica Neue"/>
                <a:cs typeface="Helvetica Neue"/>
              </a:defRPr>
            </a:pPr>
            <a:r>
              <a:rPr sz="1950" b="0">
                <a:solidFill>
                  <a:srgbClr val="B7C4D2"/>
                </a:solidFill>
                <a:latin typeface="Helvetica Neue"/>
                <a:ea typeface="Helvetica Neue"/>
                <a:cs typeface="Helvetica Neue"/>
              </a:rPr>
              <a:t>El corpus tiene caché de vectores. Las consultas no.</a:t>
            </a:r>
          </a:p>
        </p:txBody>
      </p:sp>
    </p:spTree>
    <p:extLst>
      <p:ext uri="{BB962C8B-B14F-4D97-AF65-F5344CB8AC3E}">
        <p14:creationId xmlns:p14="http://schemas.microsoft.com/office/powerpoint/2010/main" val="648297092"/>
      </p:ext>
    </p:extLst>
  </p:cSld>
</p:sld>
</file>

<file path=ppt/slides/slide6.xml><?xml version="1.0" encoding="utf-8"?>
<p:sld xmlns:p="http://schemas.openxmlformats.org/presentationml/2006/main">
  <p:cSld>
    <p:bg>
      <p:bgPr>
        <a:solidFill xmlns:a="http://schemas.openxmlformats.org/drawingml/2006/main">
          <a:srgbClr val="0B1C3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3F43FA-2998-4A3D-BFF9-B43D8964FB8D}"/>
              </a:ext>
            </a:extLst>
          </p:cNvPr>
          <p:cNvSpPr>
            <a:spLocks xmlns:a="http://schemas.openxmlformats.org/drawingml/2006/main" noGrp="1"/>
          </p:cNvSpPr>
          <p:nvPr/>
        </p:nvSpPr>
        <p:spPr>
          <a:xfrm xmlns:a="http://schemas.openxmlformats.org/drawingml/2006/main">
            <a:off x="609600" y="4286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1F3F5"/>
                </a:solidFill>
                <a:latin typeface="Helvetica Neue"/>
                <a:ea typeface="Helvetica Neue"/>
                <a:cs typeface="Helvetica Neue"/>
              </a:defRPr>
            </a:pPr>
            <a:r>
              <a:rPr sz="3300" b="1">
                <a:solidFill>
                  <a:srgbClr val="F1F3F5"/>
                </a:solidFill>
                <a:latin typeface="Helvetica Neue"/>
                <a:ea typeface="Helvetica Neue"/>
                <a:cs typeface="Helvetica Neue"/>
              </a:rPr>
              <a:t>Prueba ciega · 10 preguntas nuevas</a:t>
            </a:r>
          </a:p>
        </p:txBody>
      </p:sp>
      <p:sp>
        <p:nvSpPr>
          <p:cNvPr id="2" name="">
            <a:extLst xmlns:a="http://schemas.openxmlformats.org/drawingml/2006/main">
              <a:ext uri="{FF2B5EF4-FFF2-40B4-BE49-F238E27FC236}">
                <a16:creationId xmlns:a16="http://schemas.microsoft.com/office/drawing/2014/main" id="{3BC14D9A-60D1-4252-A77A-E9735F8025C7}"/>
              </a:ext>
            </a:extLst>
          </p:cNvPr>
          <p:cNvSpPr>
            <a:spLocks xmlns:a="http://schemas.openxmlformats.org/drawingml/2006/main" noGrp="1"/>
          </p:cNvSpPr>
          <p:nvPr/>
        </p:nvSpPr>
        <p:spPr>
          <a:xfrm xmlns:a="http://schemas.openxmlformats.org/drawingml/2006/main">
            <a:off x="609600" y="11715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B7C4D2"/>
                </a:solidFill>
                <a:latin typeface="Helvetica Neue"/>
                <a:ea typeface="Helvetica Neue"/>
                <a:cs typeface="Helvetica Neue"/>
              </a:defRPr>
            </a:pPr>
            <a:r>
              <a:rPr sz="1725" b="0">
                <a:solidFill>
                  <a:srgbClr val="B7C4D2"/>
                </a:solidFill>
                <a:latin typeface="Helvetica Neue"/>
                <a:ea typeface="Helvetica Neue"/>
                <a:cs typeface="Helvetica Neue"/>
              </a:rPr>
              <a:t>Resultados pendientes de la sesión del 24 de septiembre</a:t>
            </a:r>
          </a:p>
        </p:txBody>
      </p:sp>
      <p:sp>
        <p:nvSpPr>
          <p:cNvPr id="3" name="">
            <a:extLst xmlns:a="http://schemas.openxmlformats.org/drawingml/2006/main">
              <a:ext uri="{FF2B5EF4-FFF2-40B4-BE49-F238E27FC236}">
                <a16:creationId xmlns:a16="http://schemas.microsoft.com/office/drawing/2014/main" id="{7AE40EC1-C217-43FE-A4EE-533589DAF4BA}"/>
              </a:ext>
            </a:extLst>
          </p:cNvPr>
          <p:cNvSpPr>
            <a:spLocks xmlns:a="http://schemas.openxmlformats.org/drawingml/2006/main" noGrp="1"/>
          </p:cNvSpPr>
          <p:nvPr/>
        </p:nvSpPr>
        <p:spPr>
          <a:xfrm xmlns:a="http://schemas.openxmlformats.org/drawingml/2006/main">
            <a:off x="1116330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7C4D2"/>
                </a:solidFill>
                <a:latin typeface="Helvetica Neue"/>
                <a:ea typeface="Helvetica Neue"/>
                <a:cs typeface="Helvetica Neue"/>
              </a:defRPr>
            </a:pPr>
            <a:r>
              <a:rPr sz="1275" b="0">
                <a:solidFill>
                  <a:srgbClr val="B7C4D2"/>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062BCC6A-AE33-41A1-9DF2-CD31E3DCCF46}"/>
              </a:ext>
            </a:extLst>
          </p:cNvPr>
          <p:cNvSpPr>
            <a:spLocks xmlns:a="http://schemas.openxmlformats.org/drawingml/2006/main" noGrp="1"/>
          </p:cNvSpPr>
          <p:nvPr/>
        </p:nvSpPr>
        <p:spPr>
          <a:xfrm xmlns:a="http://schemas.openxmlformats.org/drawingml/2006/main">
            <a:off x="647700" y="2152650"/>
            <a:ext cx="6286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1F3F5"/>
                </a:solidFill>
                <a:latin typeface="Helvetica Neue"/>
                <a:ea typeface="Helvetica Neue"/>
                <a:cs typeface="Helvetica Neue"/>
              </a:defRPr>
            </a:pPr>
            <a:r>
              <a:rPr sz="3300" b="1">
                <a:solidFill>
                  <a:srgbClr val="F1F3F5"/>
                </a:solidFill>
                <a:latin typeface="Helvetica Neue"/>
                <a:ea typeface="Helvetica Neue"/>
                <a:cs typeface="Helvetica Neue"/>
              </a:rPr>
              <a:t>Los conjuntos de desarrollo</a:t>
            </a:r>
          </a:p>
          <a:p xmlns:a="http://schemas.openxmlformats.org/drawingml/2006/main">
            <a:pPr>
              <a:buNone/>
              <a:defRPr sz="3300" b="1">
                <a:solidFill>
                  <a:srgbClr val="F1F3F5"/>
                </a:solidFill>
                <a:latin typeface="Helvetica Neue"/>
                <a:ea typeface="Helvetica Neue"/>
                <a:cs typeface="Helvetica Neue"/>
              </a:defRPr>
            </a:pPr>
            <a:r>
              <a:rPr sz="3300" b="1">
                <a:solidFill>
                  <a:srgbClr val="F1F3F5"/>
                </a:solidFill>
                <a:latin typeface="Helvetica Neue"/>
                <a:ea typeface="Helvetica Neue"/>
                <a:cs typeface="Helvetica Neue"/>
              </a:rPr>
              <a:t>ya los conocemos</a:t>
            </a:r>
          </a:p>
        </p:txBody>
      </p:sp>
      <p:sp>
        <p:nvSpPr>
          <p:cNvPr id="5" name="">
            <a:extLst xmlns:a="http://schemas.openxmlformats.org/drawingml/2006/main">
              <a:ext uri="{FF2B5EF4-FFF2-40B4-BE49-F238E27FC236}">
                <a16:creationId xmlns:a16="http://schemas.microsoft.com/office/drawing/2014/main" id="{D15E1A91-B297-45B2-9E97-E30AC31FABD5}"/>
              </a:ext>
            </a:extLst>
          </p:cNvPr>
          <p:cNvSpPr>
            <a:spLocks xmlns:a="http://schemas.openxmlformats.org/drawingml/2006/main" noGrp="1"/>
          </p:cNvSpPr>
          <p:nvPr/>
        </p:nvSpPr>
        <p:spPr>
          <a:xfrm xmlns:a="http://schemas.openxmlformats.org/drawingml/2006/main">
            <a:off x="657225" y="3838575"/>
            <a:ext cx="6334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B7C4D2"/>
                </a:solidFill>
                <a:latin typeface="Helvetica Neue"/>
                <a:ea typeface="Helvetica Neue"/>
                <a:cs typeface="Helvetica Neue"/>
              </a:defRPr>
            </a:pPr>
            <a:r>
              <a:rPr sz="2175" b="0">
                <a:solidFill>
                  <a:srgbClr val="B7C4D2"/>
                </a:solidFill>
                <a:latin typeface="Helvetica Neue"/>
                <a:ea typeface="Helvetica Neue"/>
                <a:cs typeface="Helvetica Neue"/>
              </a:rPr>
              <a:t>La prueba nueva medirá cuánto se mantiene</a:t>
            </a:r>
          </a:p>
          <a:p xmlns:a="http://schemas.openxmlformats.org/drawingml/2006/main">
            <a:pPr>
              <a:buNone/>
              <a:defRPr sz="2175" b="0">
                <a:solidFill>
                  <a:srgbClr val="B7C4D2"/>
                </a:solidFill>
                <a:latin typeface="Helvetica Neue"/>
                <a:ea typeface="Helvetica Neue"/>
                <a:cs typeface="Helvetica Neue"/>
              </a:defRPr>
            </a:pPr>
            <a:r>
              <a:rPr sz="2175" b="0">
                <a:solidFill>
                  <a:srgbClr val="B7C4D2"/>
                </a:solidFill>
                <a:latin typeface="Helvetica Neue"/>
                <a:ea typeface="Helvetica Neue"/>
                <a:cs typeface="Helvetica Neue"/>
              </a:rPr>
              <a:t>el resultado fuera de esas preguntas.</a:t>
            </a:r>
          </a:p>
        </p:txBody>
      </p:sp>
      <p:sp>
        <p:nvSpPr>
          <p:cNvPr id="6" name="">
            <a:extLst xmlns:a="http://schemas.openxmlformats.org/drawingml/2006/main">
              <a:ext uri="{FF2B5EF4-FFF2-40B4-BE49-F238E27FC236}">
                <a16:creationId xmlns:a16="http://schemas.microsoft.com/office/drawing/2014/main" id="{E51A4FA4-78CF-42C2-B659-42D5ACE54E22}"/>
              </a:ext>
            </a:extLst>
          </p:cNvPr>
          <p:cNvSpPr>
            <a:spLocks xmlns:a="http://schemas.openxmlformats.org/drawingml/2006/main" noGrp="1"/>
          </p:cNvSpPr>
          <p:nvPr/>
        </p:nvSpPr>
        <p:spPr>
          <a:xfrm xmlns:a="http://schemas.openxmlformats.org/drawingml/2006/main">
            <a:off x="7877175" y="2076450"/>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D4B57B"/>
                </a:solidFill>
                <a:latin typeface="Helvetica Neue"/>
                <a:ea typeface="Helvetica Neue"/>
                <a:cs typeface="Helvetica Neue"/>
              </a:defRPr>
            </a:pPr>
            <a:r>
              <a:rPr sz="2175" b="1">
                <a:solidFill>
                  <a:srgbClr val="D4B57B"/>
                </a:solidFill>
                <a:latin typeface="Helvetica Neue"/>
                <a:ea typeface="Helvetica Neue"/>
                <a:cs typeface="Helvetica Neue"/>
              </a:rPr>
              <a:t>Por registrar</a:t>
            </a:r>
          </a:p>
        </p:txBody>
      </p:sp>
      <p:sp>
        <p:nvSpPr>
          <p:cNvPr id="7" name="">
            <a:extLst xmlns:a="http://schemas.openxmlformats.org/drawingml/2006/main">
              <a:ext uri="{FF2B5EF4-FFF2-40B4-BE49-F238E27FC236}">
                <a16:creationId xmlns:a16="http://schemas.microsoft.com/office/drawing/2014/main" id="{5BD69602-8B90-4410-B165-B11ABF9CBAFB}"/>
              </a:ext>
            </a:extLst>
          </p:cNvPr>
          <p:cNvSpPr>
            <a:spLocks xmlns:a="http://schemas.openxmlformats.org/drawingml/2006/main" noGrp="1"/>
          </p:cNvSpPr>
          <p:nvPr/>
        </p:nvSpPr>
        <p:spPr>
          <a:xfrm xmlns:a="http://schemas.openxmlformats.org/drawingml/2006/main">
            <a:off x="7877175" y="2771775"/>
            <a:ext cx="3476625"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F1F3F5"/>
                </a:solidFill>
                <a:latin typeface="Helvetica Neue"/>
                <a:ea typeface="Helvetica Neue"/>
                <a:cs typeface="Helvetica Neue"/>
              </a:defRPr>
            </a:pPr>
            <a:r>
              <a:rPr sz="2100" b="0">
                <a:solidFill>
                  <a:srgbClr val="F1F3F5"/>
                </a:solidFill>
                <a:latin typeface="Helvetica Neue"/>
                <a:ea typeface="Helvetica Neue"/>
                <a:cs typeface="Helvetica Neue"/>
              </a:rPr>
              <a:t>Aciertos sobre 10</a:t>
            </a:r>
          </a:p>
          <a:p xmlns:a="http://schemas.openxmlformats.org/drawingml/2006/main">
            <a:pPr>
              <a:buNone/>
              <a:defRPr sz="2100" b="0">
                <a:solidFill>
                  <a:srgbClr val="F1F3F5"/>
                </a:solidFill>
                <a:latin typeface="Helvetica Neue"/>
                <a:ea typeface="Helvetica Neue"/>
                <a:cs typeface="Helvetica Neue"/>
              </a:defRPr>
            </a:pPr>
            <a:r>
              <a:rPr sz="2100" b="0">
                <a:solidFill>
                  <a:srgbClr val="F1F3F5"/>
                </a:solidFill>
                <a:latin typeface="Helvetica Neue"/>
                <a:ea typeface="Helvetica Neue"/>
                <a:cs typeface="Helvetica Neue"/>
              </a:rPr>
              <a:t>Abstenciones correctas</a:t>
            </a:r>
          </a:p>
          <a:p xmlns:a="http://schemas.openxmlformats.org/drawingml/2006/main">
            <a:pPr>
              <a:buNone/>
              <a:defRPr sz="2100" b="0">
                <a:solidFill>
                  <a:srgbClr val="F1F3F5"/>
                </a:solidFill>
                <a:latin typeface="Helvetica Neue"/>
                <a:ea typeface="Helvetica Neue"/>
                <a:cs typeface="Helvetica Neue"/>
              </a:defRPr>
            </a:pPr>
            <a:r>
              <a:rPr sz="2100" b="0">
                <a:solidFill>
                  <a:srgbClr val="F1F3F5"/>
                </a:solidFill>
                <a:latin typeface="Helvetica Neue"/>
                <a:ea typeface="Helvetica Neue"/>
                <a:cs typeface="Helvetica Neue"/>
              </a:rPr>
              <a:t>Coste y tiempo</a:t>
            </a:r>
          </a:p>
          <a:p xmlns:a="http://schemas.openxmlformats.org/drawingml/2006/main">
            <a:pPr>
              <a:buNone/>
              <a:defRPr sz="2100" b="0">
                <a:solidFill>
                  <a:srgbClr val="F1F3F5"/>
                </a:solidFill>
                <a:latin typeface="Helvetica Neue"/>
                <a:ea typeface="Helvetica Neue"/>
                <a:cs typeface="Helvetica Neue"/>
              </a:defRPr>
            </a:pPr>
            <a:r>
              <a:rPr sz="2100" b="0">
                <a:solidFill>
                  <a:srgbClr val="F1F3F5"/>
                </a:solidFill>
                <a:latin typeface="Helvetica Neue"/>
                <a:ea typeface="Helvetica Neue"/>
                <a:cs typeface="Helvetica Neue"/>
              </a:rPr>
              <a:t>Diferencia frente al desarrollo</a:t>
            </a:r>
          </a:p>
        </p:txBody>
      </p:sp>
      <p:sp>
        <p:nvSpPr>
          <p:cNvPr id="8" name="">
            <a:extLst xmlns:a="http://schemas.openxmlformats.org/drawingml/2006/main">
              <a:ext uri="{FF2B5EF4-FFF2-40B4-BE49-F238E27FC236}">
                <a16:creationId xmlns:a16="http://schemas.microsoft.com/office/drawing/2014/main" id="{2543BDDE-206C-49E2-8102-CC1B191D7489}"/>
              </a:ext>
            </a:extLst>
          </p:cNvPr>
          <p:cNvSpPr>
            <a:spLocks xmlns:a="http://schemas.openxmlformats.org/drawingml/2006/main" noGrp="1"/>
          </p:cNvSpPr>
          <p:nvPr/>
        </p:nvSpPr>
        <p:spPr>
          <a:xfrm xmlns:a="http://schemas.openxmlformats.org/drawingml/2006/main">
            <a:off x="666750" y="5724525"/>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7C4D2"/>
                </a:solidFill>
                <a:latin typeface="Helvetica Neue"/>
                <a:ea typeface="Helvetica Neue"/>
                <a:cs typeface="Helvetica Neue"/>
              </a:defRPr>
            </a:pPr>
            <a:r>
              <a:rPr sz="1875" b="0">
                <a:solidFill>
                  <a:srgbClr val="B7C4D2"/>
                </a:solidFill>
                <a:latin typeface="Helvetica Neue"/>
                <a:ea typeface="Helvetica Neue"/>
                <a:cs typeface="Helvetica Neue"/>
              </a:rPr>
              <a:t>Se ejecutará el código entregado. Aún no hay una puntuación ciega.</a:t>
            </a:r>
          </a:p>
        </p:txBody>
      </p:sp>
    </p:spTree>
    <p:extLst>
      <p:ext uri="{BB962C8B-B14F-4D97-AF65-F5344CB8AC3E}">
        <p14:creationId xmlns:p14="http://schemas.microsoft.com/office/powerpoint/2010/main" val="1118120795"/>
      </p:ext>
    </p:extLst>
  </p:cSld>
</p:sld>
</file>

<file path=ppt/slides/slide7.xml><?xml version="1.0" encoding="utf-8"?>
<p:sld xmlns:p="http://schemas.openxmlformats.org/presentationml/2006/main">
  <p:cSld>
    <p:bg>
      <p:bgPr>
        <a:solidFill xmlns:a="http://schemas.openxmlformats.org/drawingml/2006/main">
          <a:srgbClr val="0B1C3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FAE0B3-8D8A-42F6-8708-66C0B4A3BBD0}"/>
              </a:ext>
            </a:extLst>
          </p:cNvPr>
          <p:cNvSpPr>
            <a:spLocks xmlns:a="http://schemas.openxmlformats.org/drawingml/2006/main" noGrp="1"/>
          </p:cNvSpPr>
          <p:nvPr/>
        </p:nvSpPr>
        <p:spPr>
          <a:xfrm xmlns:a="http://schemas.openxmlformats.org/drawingml/2006/main">
            <a:off x="609600" y="4286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1F3F5"/>
                </a:solidFill>
                <a:latin typeface="Helvetica Neue"/>
                <a:ea typeface="Helvetica Neue"/>
                <a:cs typeface="Helvetica Neue"/>
              </a:defRPr>
            </a:pPr>
            <a:r>
              <a:rPr sz="3300" b="1">
                <a:solidFill>
                  <a:srgbClr val="F1F3F5"/>
                </a:solidFill>
                <a:latin typeface="Helvetica Neue"/>
                <a:ea typeface="Helvetica Neue"/>
                <a:cs typeface="Helvetica Neue"/>
              </a:rPr>
              <a:t>Baseline frente a Jchulvi v3</a:t>
            </a:r>
          </a:p>
        </p:txBody>
      </p:sp>
      <p:sp>
        <p:nvSpPr>
          <p:cNvPr id="2" name="">
            <a:extLst xmlns:a="http://schemas.openxmlformats.org/drawingml/2006/main">
              <a:ext uri="{FF2B5EF4-FFF2-40B4-BE49-F238E27FC236}">
                <a16:creationId xmlns:a16="http://schemas.microsoft.com/office/drawing/2014/main" id="{C4EABC3E-7925-401E-8C58-9FECAC5D7E6D}"/>
              </a:ext>
            </a:extLst>
          </p:cNvPr>
          <p:cNvSpPr>
            <a:spLocks xmlns:a="http://schemas.openxmlformats.org/drawingml/2006/main" noGrp="1"/>
          </p:cNvSpPr>
          <p:nvPr/>
        </p:nvSpPr>
        <p:spPr>
          <a:xfrm xmlns:a="http://schemas.openxmlformats.org/drawingml/2006/main">
            <a:off x="609600" y="11715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B7C4D2"/>
                </a:solidFill>
                <a:latin typeface="Helvetica Neue"/>
                <a:ea typeface="Helvetica Neue"/>
                <a:cs typeface="Helvetica Neue"/>
              </a:defRPr>
            </a:pPr>
            <a:r>
              <a:rPr sz="1725" b="0">
                <a:solidFill>
                  <a:srgbClr val="B7C4D2"/>
                </a:solidFill>
                <a:latin typeface="Helvetica Neue"/>
                <a:ea typeface="Helvetica Neue"/>
                <a:cs typeface="Helvetica Neue"/>
              </a:rPr>
              <a:t>Mismas 20 preguntas del equipo · Métricas medias por pregunta</a:t>
            </a:r>
          </a:p>
        </p:txBody>
      </p:sp>
      <p:sp>
        <p:nvSpPr>
          <p:cNvPr id="3" name="">
            <a:extLst xmlns:a="http://schemas.openxmlformats.org/drawingml/2006/main">
              <a:ext uri="{FF2B5EF4-FFF2-40B4-BE49-F238E27FC236}">
                <a16:creationId xmlns:a16="http://schemas.microsoft.com/office/drawing/2014/main" id="{2023793D-6988-4DE6-945C-C0398ECA9E18}"/>
              </a:ext>
            </a:extLst>
          </p:cNvPr>
          <p:cNvSpPr>
            <a:spLocks xmlns:a="http://schemas.openxmlformats.org/drawingml/2006/main" noGrp="1"/>
          </p:cNvSpPr>
          <p:nvPr/>
        </p:nvSpPr>
        <p:spPr>
          <a:xfrm xmlns:a="http://schemas.openxmlformats.org/drawingml/2006/main">
            <a:off x="11163300" y="62769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7C4D2"/>
                </a:solidFill>
                <a:latin typeface="Helvetica Neue"/>
                <a:ea typeface="Helvetica Neue"/>
                <a:cs typeface="Helvetica Neue"/>
              </a:defRPr>
            </a:pPr>
            <a:r>
              <a:rPr sz="1275" b="0">
                <a:solidFill>
                  <a:srgbClr val="B7C4D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AC1C66A2-3CF1-4F18-8344-2BDBB57EF439}"/>
              </a:ext>
            </a:extLst>
          </p:cNvPr>
          <p:cNvSpPr>
            <a:spLocks xmlns:a="http://schemas.openxmlformats.org/drawingml/2006/main" noGrp="1"/>
          </p:cNvSpPr>
          <p:nvPr/>
        </p:nvSpPr>
        <p:spPr>
          <a:xfrm xmlns:a="http://schemas.openxmlformats.org/drawingml/2006/main">
            <a:off x="638175" y="56959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D4B57B"/>
                </a:solidFill>
                <a:latin typeface="Helvetica Neue"/>
                <a:ea typeface="Helvetica Neue"/>
                <a:cs typeface="Helvetica Neue"/>
              </a:defRPr>
            </a:pPr>
            <a:r>
              <a:rPr sz="2175" b="1">
                <a:solidFill>
                  <a:srgbClr val="D4B57B"/>
                </a:solidFill>
                <a:latin typeface="Helvetica Neue"/>
                <a:ea typeface="Helvetica Neue"/>
                <a:cs typeface="Helvetica Neue"/>
              </a:rPr>
              <a:t>Jchulvi v3: 20/20 frente a 11/20 y un 83,7 % menos de coste.</a:t>
            </a:r>
          </a:p>
        </p:txBody>
      </p:sp>
      <p:sp>
        <p:nvSpPr>
          <p:cNvPr id="6" name="">
            <a:extLst xmlns:a="http://schemas.openxmlformats.org/drawingml/2006/main">
              <a:ext uri="{FF2B5EF4-FFF2-40B4-BE49-F238E27FC236}">
                <a16:creationId xmlns:a16="http://schemas.microsoft.com/office/drawing/2014/main" id="{4AB08DAB-BD2B-4696-BB29-B18AB50D3483}"/>
              </a:ext>
            </a:extLst>
          </p:cNvPr>
          <p:cNvSpPr>
            <a:spLocks xmlns:a="http://schemas.openxmlformats.org/drawingml/2006/main" noGrp="1"/>
          </p:cNvSpPr>
          <p:nvPr/>
        </p:nvSpPr>
        <p:spPr>
          <a:xfrm xmlns:a="http://schemas.openxmlformats.org/drawingml/2006/main">
            <a:off x="638175" y="62865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7C4D2"/>
                </a:solidFill>
                <a:latin typeface="Helvetica Neue"/>
                <a:ea typeface="Helvetica Neue"/>
                <a:cs typeface="Helvetica Neue"/>
              </a:defRPr>
            </a:pPr>
            <a:r>
              <a:rPr sz="1275" b="0">
                <a:solidFill>
                  <a:srgbClr val="B7C4D2"/>
                </a:solidFill>
                <a:latin typeface="Helvetica Neue"/>
                <a:ea typeface="Helvetica Neue"/>
                <a:cs typeface="Helvetica Neue"/>
              </a:rPr>
              <a:t>Fuente: resultados/resumen_baseline.csv y resultados/resumen_jchulvi_v3.csv</a:t>
            </a:r>
          </a:p>
        </p:txBody>
      </p:sp>
      <p:graphicFrame>
        <p:nvGraphicFramePr>
          <p:cNvPr id="14" name=""/>
          <p:cNvGraphicFramePr/>
          <p:nvPr/>
        </p:nvGraphicFramePr>
        <p:xfrm>
          <a:off xmlns:a="http://schemas.openxmlformats.org/drawingml/2006/main" x="609600" y="1657350"/>
          <a:ext xmlns:a="http://schemas.openxmlformats.org/drawingml/2006/main" cx="10972800" cy="3943350"/>
        </p:xfrm>
        <a:graphic xmlns:a="http://schemas.openxmlformats.org/drawingml/2006/main">
          <a:graphicData uri="http://schemas.openxmlformats.org/drawingml/2006/table">
            <a:tbl>
              <a:tblPr/>
              <a:tblGrid>
                <a:gridCol w="4762500"/>
                <a:gridCol w="3105150"/>
                <a:gridCol w="3105150"/>
              </a:tblGrid>
              <a:tr h="381000">
                <a:tc>
                  <a:txBody>
                    <a:bodyPr/>
                    <a:lstStyle/>
                    <a:p>
                      <a:r>
                        <a:rPr sz="1500" b="1">
                          <a:solidFill>
                            <a:srgbClr val="B7C4D2"/>
                          </a:solidFill>
                          <a:latin typeface="Helvetica Neue"/>
                          <a:ea typeface="Helvetica Neue"/>
                          <a:cs typeface="Helvetica Neue"/>
                        </a:rPr>
                        <a:t>Métrica</a:t>
                      </a:r>
                    </a:p>
                  </a:txBody>
                  <a:tcPr marL="114300" marR="114300" marT="28575" marB="28575" anchor="ctr">
                    <a:solidFill>
                      <a:srgbClr val="0B1C32"/>
                    </a:solidFill>
                  </a:tcPr>
                </a:tc>
                <a:tc>
                  <a:txBody>
                    <a:bodyPr/>
                    <a:lstStyle/>
                    <a:p>
                      <a:r>
                        <a:rPr sz="1500" b="1">
                          <a:solidFill>
                            <a:srgbClr val="B7C4D2"/>
                          </a:solidFill>
                          <a:latin typeface="Helvetica Neue"/>
                          <a:ea typeface="Helvetica Neue"/>
                          <a:cs typeface="Helvetica Neue"/>
                        </a:rPr>
                        <a:t>Baseline</a:t>
                      </a:r>
                    </a:p>
                  </a:txBody>
                  <a:tcPr marL="114300" marR="114300" marT="28575" marB="28575" anchor="ctr">
                    <a:solidFill>
                      <a:srgbClr val="0B1C32"/>
                    </a:solidFill>
                  </a:tcPr>
                </a:tc>
                <a:tc>
                  <a:txBody>
                    <a:bodyPr/>
                    <a:lstStyle/>
                    <a:p>
                      <a:r>
                        <a:rPr sz="1500" b="1">
                          <a:solidFill>
                            <a:srgbClr val="D4B57B"/>
                          </a:solidFill>
                          <a:latin typeface="Helvetica Neue"/>
                          <a:ea typeface="Helvetica Neue"/>
                          <a:cs typeface="Helvetica Neue"/>
                        </a:rPr>
                        <a:t>Jchulvi v3</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Cita</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42,9 %</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100,0 %</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Cifra</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85,7 %</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100,0 %</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Trayectoria</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75,0 %</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100,0 %</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Recall@5</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42,9 %</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85,7 %</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Aciertos extractiva</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5/6</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6/6</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Aciertos numérica</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6/6</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6/6</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Aciertos comparativa</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0/8</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8/8</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Coste medio (¢)</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0,7592</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0,1234</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Latencia media (s)</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14,87</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16,34</a:t>
                      </a:r>
                    </a:p>
                  </a:txBody>
                  <a:tcPr marL="114300" marR="114300" marT="28575" marB="28575" anchor="ctr">
                    <a:solidFill>
                      <a:srgbClr val="0B1C32"/>
                    </a:solidFill>
                  </a:tcPr>
                </a:tc>
              </a:tr>
              <a:tr h="356235">
                <a:tc>
                  <a:txBody>
                    <a:bodyPr/>
                    <a:lstStyle/>
                    <a:p>
                      <a:r>
                        <a:rPr sz="1275" b="1">
                          <a:solidFill>
                            <a:srgbClr val="F1F3F5"/>
                          </a:solidFill>
                          <a:latin typeface="Helvetica Neue"/>
                          <a:ea typeface="Helvetica Neue"/>
                          <a:cs typeface="Helvetica Neue"/>
                        </a:rPr>
                        <a:t>Llamadas/pregunta</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3,10</a:t>
                      </a:r>
                    </a:p>
                  </a:txBody>
                  <a:tcPr marL="114300" marR="114300" marT="28575" marB="28575" anchor="ctr">
                    <a:solidFill>
                      <a:srgbClr val="0B1C32"/>
                    </a:solidFill>
                  </a:tcPr>
                </a:tc>
                <a:tc>
                  <a:txBody>
                    <a:bodyPr/>
                    <a:lstStyle/>
                    <a:p>
                      <a:r>
                        <a:rPr sz="1275" b="0">
                          <a:solidFill>
                            <a:srgbClr val="F1F3F5"/>
                          </a:solidFill>
                          <a:latin typeface="Helvetica Neue"/>
                          <a:ea typeface="Helvetica Neue"/>
                          <a:cs typeface="Helvetica Neue"/>
                        </a:rPr>
                        <a:t>2,80</a:t>
                      </a:r>
                    </a:p>
                  </a:txBody>
                  <a:tcPr marL="114300" marR="114300" marT="28575" marB="28575" anchor="ctr">
                    <a:solidFill>
                      <a:srgbClr val="0B1C32"/>
                    </a:solidFill>
                  </a:tcPr>
                </a:tc>
              </a:tr>
            </a:tbl>
          </a:graphicData>
        </a:graphic>
      </p:graphicFrame>
    </p:spTree>
    <p:extLst>
      <p:ext uri="{BB962C8B-B14F-4D97-AF65-F5344CB8AC3E}">
        <p14:creationId xmlns:p14="http://schemas.microsoft.com/office/powerpoint/2010/main" val="2048794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2026-09-23T18:13:51.3390000Z</dcterms:created>
  <dcterms:modified xsi:type="dcterms:W3CDTF">2026-09-23T18:13:51.3400000Z</dcterms:modified>
</coreProperties>
</file>